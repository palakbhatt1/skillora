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e2c06b3-1c5d-c50c-27e5-aa448fa23546}">
          <p14:sldIdLst>
            <p14:sldId id="256"/>
          </p14:sldIdLst>
        </p14:section>
        <p14:section name="Problem" id="{a8970d32-1d9d-db89-bfca-a9c8efc86065}">
          <p14:sldIdLst>
            <p14:sldId id="257"/>
          </p14:sldIdLst>
        </p14:section>
        <p14:section name="How it works" id="{baaf3eaa-974b-52fc-46c5-e7558385369f}">
          <p14:sldIdLst>
            <p14:sldId id="258"/>
          </p14:sldIdLst>
        </p14:section>
        <p14:section name="Agents" id="{626383c9-941a-22fd-e151-4badc109a00a}">
          <p14:sldIdLst>
            <p14:sldId id="259"/>
          </p14:sldIdLst>
        </p14:section>
        <p14:section name="Scoring" id="{953a73de-6c4b-b8c5-eff5-a67b7f336444}">
          <p14:sldIdLst>
            <p14:sldId id="260"/>
          </p14:sldIdLst>
        </p14:section>
        <p14:section name="Evaluation" id="{f88e6592-0daa-411d-1a0e-4f271bd8a786}">
          <p14:sldIdLst>
            <p14:sldId id="261"/>
          </p14:sldIdLst>
        </p14:section>
        <p14:section name="Future scope" id="{0b167f69-30ba-f537-2f9d-edc0b68c646e}">
          <p14:sldIdLst>
            <p14:sldId id="262"/>
          </p14:sldIdLst>
        </p14:section>
        <p14:section name="Close" id="{eac66f4c-dd6f-4d80-6c25-923fd7845548}">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6EC"/>
                </a:solidFill>
                <a:latin typeface="+mn-lt"/>
              </a:defRPr>
            </a:pPr>
            <a:r>
              <a:rPr sz="1300" b="0" i="0" u="none" strike="noStrike">
                <a:solidFill>
                  <a:srgbClr val="FFF6EC"/>
                </a:solidFill>
                <a:latin typeface="+mn-lt"/>
              </a:rPr>
              <a:t>Worked example (real run, Standard profile)</a:t>
            </a:r>
          </a:p>
        </c:rich>
      </c:tx>
      <c:layout/>
      <c:overlay val="0"/>
    </c:title>
    <c:autoTitleDeleted val="0"/>
    <c:plotArea>
      <c:layout/>
      <c:barChart>
        <c:barDir val="bar"/>
        <c:grouping val="clustered"/>
        <c:varyColors val="0"/>
        <c:ser>
          <c:idx val="0"/>
          <c:order val="0"/>
          <c:tx>
            <c:strRef>
              <c:f>Sheet1!$B$1</c:f>
              <c:strCache>
                <c:ptCount val="1"/>
                <c:pt idx="0">
                  <c:v>Component score</c:v>
                </c:pt>
              </c:strCache>
            </c:strRef>
          </c:tx>
          <c:spPr>
            <a:solidFill>
              <a:srgbClr val="F97316"/>
            </a:solidFill>
            <a:effectLst/>
          </c:spPr>
          <c:invertIfNegative val="0"/>
          <c:dLbls>
            <c:numFmt formatCode="#,##0" sourceLinked="0"/>
            <c:txPr>
              <a:bodyPr/>
              <a:lstStyle/>
              <a:p>
                <a:pPr>
                  <a:defRPr b="0" i="0" strike="noStrike" sz="1200" u="none">
                    <a:solidFill>
                      <a:srgbClr val="FFF6EC"/>
                    </a:solidFill>
                    <a:latin typeface="+mn-lt"/>
                  </a:defRPr>
                </a:pPr>
              </a:p>
            </c:txPr>
            <c:showLegendKey val="0"/>
            <c:showVal val="1"/>
            <c:showCatName val="0"/>
            <c:showSerName val="0"/>
            <c:showPercent val="0"/>
            <c:showBubbleSize val="0"/>
            <c:showLeaderLines val="0"/>
          </c:dLbls>
          <c:cat>
            <c:multiLvlStrRef>
              <c:f>Sheet1!$A$2:$A$6</c:f>
              <c:multiLvlStrCache>
                <c:ptCount val="5"/>
                <c:lvl>
                  <c:pt idx="0">
                    <c:v>Skills</c:v>
                  </c:pt>
                  <c:pt idx="1">
                    <c:v>Responsibilities</c:v>
                  </c:pt>
                  <c:pt idx="2">
                    <c:v>Experience</c:v>
                  </c:pt>
                  <c:pt idx="3">
                    <c:v>Evidence</c:v>
                  </c:pt>
                  <c:pt idx="4">
                    <c:v>Education</c:v>
                  </c:pt>
                </c:lvl>
              </c:multiLvlStrCache>
            </c:multiLvlStrRef>
          </c:cat>
          <c:val>
            <c:numRef>
              <c:f>Sheet1!$B$2:$B$6</c:f>
              <c:numCache>
                <c:formatCode>General</c:formatCode>
                <c:ptCount val="5"/>
                <c:pt idx="0">
                  <c:v>91</c:v>
                </c:pt>
                <c:pt idx="1">
                  <c:v>92</c:v>
                </c:pt>
                <c:pt idx="2">
                  <c:v>33</c:v>
                </c:pt>
                <c:pt idx="3">
                  <c:v>91</c:v>
                </c:pt>
                <c:pt idx="4">
                  <c:v>100</c:v>
                </c:pt>
              </c:numCache>
            </c:numRef>
          </c:val>
        </c:ser>
        <c:dLbls>
          <c:numFmt formatCode="#,##0" sourceLinked="0"/>
          <c:txPr>
            <a:bodyPr/>
            <a:lstStyle/>
            <a:p>
              <a:pPr>
                <a:defRPr b="0" i="0" strike="noStrike" sz="1200" u="none">
                  <a:solidFill>
                    <a:srgbClr val="FFF6E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FF6EC"/>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ResCraft: an agentic AI system that builds a verified fact ledger from a candidate's own work and uses it to tailor a resume per job, with an explainable score. Three pillars: facts with proof, verified bullets, explainable score. Introduce the four team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candidates re-tailor the same resume for every job; generic AI tools invent or distort details; ATS checkers give inconsistent, unexplained scores. Our answer: a source-linked fact ledger, agents restricted to verified facts, and a deterministic explainable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runs once per source: the input is checked, the CrewAI Source Extractor writes facts with quotes, the span gate drops any fact whose quote is not really in the file, facts go to the PostgreSQL ledger and the user confirms them. Phase 2 runs for every job: the CrewAI JD Analyzer structures the job, the Matcher links requirements to verified facts, the Project Selector picks projects, the Google ADK Resume Writer drafts bullets and the Verifier sends unsupported claims back. The Keyword Coach shows honest gaps, the Scoring Engine computes the score in plain Python, and the resume is exported.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CrewAI Flows run the fixed analysis pipeline (extraction, JD analysis, matching). Google ADK runs the interactive side: the Resume Writer, the Verifier as a model callback, and the Coordinator chat with tools. Everything that must be exact - project selection, keyword gaps, scoring - is plain Python. If Gemini is unavailable each agent step falls back to rule-based code, and the UI shows which path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 plain arithmetic, not AI, so the same input always gives the same number. Five parts each 0-100 with weights from the chosen profile. Worked example from a real run: 0.40x91 + 0.25x92 + 0.15x33 + 0.10x91 + 0.10x100 = about 84. If a part cannot be scored, for example unknown years of experience, its weight is shared by the others. Eligibility is reported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safeguards: quotes for every fact, a Verifier on every bullet, deterministic scoring and per-user data isolation. Evaluation runner metrics on our synthetic test set: 32 of 32 fabricated claims blocked with all 9 honest bullets allowed, one identical score across 30 shuffled runs, every extracted quote present verbatim, and NDCG@3 of 1.00 for project ranking. Be clear that these are synthetic results; a real labelled evaluation is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 term: a real labelled evaluation set to validate and later learn the scoring weights; a job-link reader tool so agents can read a posting from its URL; and cloud deployment on Cloud Run with hosted PostgreSQL. Longer term: meaning-based matching with sentence embeddings and pgvector, interview preparation built from the candidate's gaps and verified projects, and reusing the same verified facts for cover letters and LinkedIn.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through the six screens, pointing at the Live agents panel on the left. Close with the three takeaways: every claim is traceable to a source, two agent frameworks (CrewAI and Google ADK) powered by Gemini, and a deterministic, explainable score.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766560" cy="1188720"/>
          </a:xfrm>
          <a:prstGeom prst="rect">
            <a:avLst/>
          </a:prstGeom>
          <a:noFill/>
          <a:ln/>
        </p:spPr>
        <p:txBody>
          <a:bodyPr wrap="square" rtlCol="0"/>
          <a:lstStyle>
            <a:lvl1pPr indent="0" marL="0">
              <a:buNone/>
              <a:defRPr lang="en-US" sz="6000" b="1" dirty="0">
                <a:solidFill>
                  <a:schemeClr val="bg2"/>
                </a:solidFill>
                <a:latin typeface="Cambria" pitchFamily="34" charset="0"/>
                <a:ea typeface="Cambria" pitchFamily="34" charset="-122"/>
                <a:cs typeface="Cambria" pitchFamily="34" charset="-120"/>
              </a:defRPr>
            </a:lvl1pPr>
          </a:lstStyle>
          <a:p>
            <a:pPr indent="0" marL="0">
              <a:buNone/>
            </a:pPr>
            <a:endParaRPr lang="en-US" sz="6000" dirty="0"/>
          </a:p>
        </p:txBody>
      </p:sp>
      <p:sp>
        <p:nvSpPr>
          <p:cNvPr id="3" name="Text 0"/>
          <p:cNvSpPr/>
          <p:nvPr>
            <p:ph idx="101" type="body" hasCustomPrompt="1"/>
          </p:nvPr>
        </p:nvSpPr>
        <p:spPr>
          <a:xfrm>
            <a:off x="640080" y="2697480"/>
            <a:ext cx="6766560" cy="64008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rtlCol="0"/>
          <a:lstStyle>
            <a:lvl1pPr indent="0" marL="0">
              <a:buNone/>
              <a:defRPr lang="en-US" sz="3200" b="1" dirty="0">
                <a:solidFill>
                  <a:schemeClr val="bg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ResCraft  ·  Agentic AI Project</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766560" cy="1188720"/>
          </a:xfrm>
          <a:prstGeom prst="rect">
            <a:avLst/>
          </a:prstGeom>
          <a:noFill/>
          <a:ln/>
        </p:spPr>
        <p:txBody>
          <a:bodyPr wrap="square" lIns="0" tIns="0" rIns="0" bIns="0" rtlCol="0" anchor="b"/>
          <a:lstStyle/>
          <a:p>
            <a:pPr indent="0" marL="0">
              <a:buNone/>
            </a:pPr>
            <a:r>
              <a:rPr lang="en-US" sz="6000" b="1" dirty="0">
                <a:solidFill>
                  <a:schemeClr val="bg2"/>
                </a:solidFill>
                <a:latin typeface="Cambria" pitchFamily="34" charset="0"/>
                <a:ea typeface="Cambria" pitchFamily="34" charset="-122"/>
                <a:cs typeface="Cambria" pitchFamily="34" charset="-120"/>
              </a:rPr>
              <a:t>ResCraft</a:t>
            </a:r>
            <a:endParaRPr lang="en-US" sz="6000" dirty="0"/>
          </a:p>
        </p:txBody>
      </p:sp>
      <p:sp>
        <p:nvSpPr>
          <p:cNvPr id="3" name="Text 0"/>
          <p:cNvSpPr/>
          <p:nvPr>
            <p:ph idx="101" type="body" hasCustomPrompt="1"/>
          </p:nvPr>
        </p:nvSpPr>
        <p:spPr>
          <a:xfrm>
            <a:off x="640080" y="2697480"/>
            <a:ext cx="6766560" cy="640080"/>
          </a:xfrm>
          <a:prstGeom prst="rect">
            <a:avLst/>
          </a:prstGeom>
          <a:noFill/>
          <a:ln/>
        </p:spPr>
        <p:txBody>
          <a:bodyPr wrap="square" lIns="0" tIns="0" rIns="0" bIns="0" rtlCol="0" anchor="t"/>
          <a:lstStyle/>
          <a:p>
            <a:pPr indent="0" marL="0">
              <a:buNone/>
            </a:pPr>
            <a:r>
              <a:rPr lang="en-US" sz="2200" dirty="0">
                <a:solidFill>
                  <a:schemeClr val="accent2"/>
                </a:solidFill>
              </a:rPr>
              <a:t>AI-powered resume intelligence &amp; job readiness</a:t>
            </a:r>
            <a:endParaRPr lang="en-US" sz="2200" dirty="0"/>
          </a:p>
        </p:txBody>
      </p:sp>
      <p:sp>
        <p:nvSpPr>
          <p:cNvPr id="4" name="Text 2"/>
          <p:cNvSpPr txBox="1"/>
          <p:nvPr/>
        </p:nvSpPr>
        <p:spPr>
          <a:xfrm>
            <a:off x="640080" y="3429000"/>
            <a:ext cx="6766560" cy="457200"/>
          </a:xfrm>
          <a:prstGeom prst="rect">
            <a:avLst/>
          </a:prstGeom>
          <a:noFill/>
          <a:ln/>
        </p:spPr>
        <p:txBody>
          <a:bodyPr wrap="square" lIns="0" tIns="0" rIns="0" bIns="0" rtlCol="0" anchor="ctr"/>
          <a:lstStyle/>
          <a:p>
            <a:pPr indent="0" marL="0">
              <a:buNone/>
            </a:pPr>
            <a:r>
              <a:rPr lang="en-US" sz="1600" i="1" dirty="0">
                <a:solidFill>
                  <a:schemeClr val="accent6"/>
                </a:solidFill>
              </a:rPr>
              <a:t>One verified profile. Every resume tailored. Every score explained.</a:t>
            </a:r>
            <a:endParaRPr lang="en-US" sz="1600" dirty="0"/>
          </a:p>
        </p:txBody>
      </p:sp>
      <p:sp>
        <p:nvSpPr>
          <p:cNvPr id="5" name="Text 3"/>
          <p:cNvSpPr txBox="1"/>
          <p:nvPr/>
        </p:nvSpPr>
        <p:spPr>
          <a:xfrm>
            <a:off x="640080" y="4069080"/>
            <a:ext cx="6949440" cy="685800"/>
          </a:xfrm>
          <a:prstGeom prst="rect">
            <a:avLst/>
          </a:prstGeom>
          <a:noFill/>
          <a:ln/>
        </p:spPr>
        <p:txBody>
          <a:bodyPr wrap="square" lIns="0" tIns="0" rIns="0" bIns="0" rtlCol="0" anchor="ctr"/>
          <a:lstStyle/>
          <a:p>
            <a:pPr indent="0" marL="0">
              <a:spcAft>
                <a:spcPts val="400"/>
              </a:spcAft>
              <a:buNone/>
            </a:pPr>
            <a:r>
              <a:rPr lang="en-US" sz="1400" b="1" dirty="0">
                <a:solidFill>
                  <a:schemeClr val="accent1"/>
                </a:solidFill>
              </a:rPr>
              <a:t>Agentic AI Project</a:t>
            </a:r>
            <a:endParaRPr lang="en-US" sz="1400" dirty="0"/>
          </a:p>
          <a:p>
            <a:pPr indent="0" marL="0">
              <a:spcAft>
                <a:spcPts val="400"/>
              </a:spcAft>
              <a:buNone/>
            </a:pPr>
            <a:r>
              <a:rPr lang="en-US" sz="1400" dirty="0">
                <a:solidFill>
                  <a:schemeClr val="bg2"/>
                </a:solidFill>
              </a:rPr>
              <a:t>CrewAI  ·  Google ADK  ·  Gemini  ·  FastAPI  ·  Next.js  ·  PostgreSQL</a:t>
            </a:r>
            <a:endParaRPr lang="en-US" sz="1400" dirty="0"/>
          </a:p>
        </p:txBody>
      </p:sp>
      <p:sp>
        <p:nvSpPr>
          <p:cNvPr id="6" name="pillar 1"/>
          <p:cNvSpPr/>
          <p:nvPr/>
        </p:nvSpPr>
        <p:spPr>
          <a:xfrm>
            <a:off x="8001000" y="1234440"/>
            <a:ext cx="3611880" cy="1005840"/>
          </a:xfrm>
          <a:prstGeom prst="roundRect">
            <a:avLst>
              <a:gd name="adj" fmla="val 10909"/>
            </a:avLst>
          </a:prstGeom>
          <a:solidFill>
            <a:schemeClr val="tx2"/>
          </a:solidFill>
          <a:ln w="9525">
            <a:solidFill>
              <a:schemeClr val="tx2"/>
            </a:solidFill>
            <a:prstDash val="solid"/>
          </a:ln>
        </p:spPr>
      </p:sp>
      <p:sp>
        <p:nvSpPr>
          <p:cNvPr id="7" name="pillar 1 circle"/>
          <p:cNvSpPr/>
          <p:nvPr/>
        </p:nvSpPr>
        <p:spPr>
          <a:xfrm>
            <a:off x="8183880" y="1417320"/>
            <a:ext cx="640080" cy="640080"/>
          </a:xfrm>
          <a:prstGeom prst="ellipse">
            <a:avLst/>
          </a:prstGeom>
          <a:solidFill>
            <a:schemeClr val="accent1"/>
          </a:solidFill>
          <a:ln w="6350">
            <a:solidFill>
              <a:schemeClr val="accent1"/>
            </a:solidFill>
            <a:prstDash val="solid"/>
          </a:ln>
        </p:spPr>
      </p:sp>
      <p:pic>
        <p:nvPicPr>
          <p:cNvPr id="8" name="pillar 1 icon" descr="preencoded.png">    </p:cNvPr>
          <p:cNvPicPr>
            <a:picLocks noChangeAspect="1"/>
          </p:cNvPicPr>
          <p:nvPr/>
        </p:nvPicPr>
        <p:blipFill>
          <a:blip r:embed="rId1"/>
          <a:stretch>
            <a:fillRect/>
          </a:stretch>
        </p:blipFill>
        <p:spPr>
          <a:xfrm>
            <a:off x="8343900" y="1577340"/>
            <a:ext cx="320040" cy="320040"/>
          </a:xfrm>
          <a:prstGeom prst="rect">
            <a:avLst/>
          </a:prstGeom>
        </p:spPr>
      </p:pic>
      <p:sp>
        <p:nvSpPr>
          <p:cNvPr id="9" name="Text 6"/>
          <p:cNvSpPr txBox="1"/>
          <p:nvPr/>
        </p:nvSpPr>
        <p:spPr>
          <a:xfrm>
            <a:off x="9006840" y="1389888"/>
            <a:ext cx="2514600" cy="713232"/>
          </a:xfrm>
          <a:prstGeom prst="rect">
            <a:avLst/>
          </a:prstGeom>
          <a:noFill/>
          <a:ln/>
        </p:spPr>
        <p:txBody>
          <a:bodyPr wrap="square" lIns="0" tIns="0" rIns="0" bIns="0" rtlCol="0" anchor="ctr"/>
          <a:lstStyle/>
          <a:p>
            <a:pPr indent="0" marL="0">
              <a:buNone/>
            </a:pPr>
            <a:r>
              <a:rPr lang="en-US" sz="1600" b="1" dirty="0">
                <a:solidFill>
                  <a:schemeClr val="bg2"/>
                </a:solidFill>
              </a:rPr>
              <a:t>Facts with proof</a:t>
            </a:r>
            <a:endParaRPr lang="en-US" sz="1600" dirty="0"/>
          </a:p>
          <a:p>
            <a:pPr indent="0" marL="0">
              <a:buNone/>
            </a:pPr>
            <a:r>
              <a:rPr lang="en-US" sz="1200" dirty="0">
                <a:solidFill>
                  <a:schemeClr val="accent6"/>
                </a:solidFill>
              </a:rPr>
              <a:t>Every claim keeps the sentence it came from</a:t>
            </a:r>
            <a:endParaRPr lang="en-US" sz="1600" dirty="0"/>
          </a:p>
        </p:txBody>
      </p:sp>
      <p:sp>
        <p:nvSpPr>
          <p:cNvPr id="10" name="pillar 2"/>
          <p:cNvSpPr/>
          <p:nvPr/>
        </p:nvSpPr>
        <p:spPr>
          <a:xfrm>
            <a:off x="8001000" y="2441448"/>
            <a:ext cx="3611880" cy="1005840"/>
          </a:xfrm>
          <a:prstGeom prst="roundRect">
            <a:avLst>
              <a:gd name="adj" fmla="val 10909"/>
            </a:avLst>
          </a:prstGeom>
          <a:solidFill>
            <a:schemeClr val="tx2"/>
          </a:solidFill>
          <a:ln w="9525">
            <a:solidFill>
              <a:schemeClr val="tx2"/>
            </a:solidFill>
            <a:prstDash val="solid"/>
          </a:ln>
        </p:spPr>
      </p:sp>
      <p:sp>
        <p:nvSpPr>
          <p:cNvPr id="11" name="pillar 2 circle"/>
          <p:cNvSpPr/>
          <p:nvPr/>
        </p:nvSpPr>
        <p:spPr>
          <a:xfrm>
            <a:off x="8183880" y="2624328"/>
            <a:ext cx="640080" cy="640080"/>
          </a:xfrm>
          <a:prstGeom prst="ellipse">
            <a:avLst/>
          </a:prstGeom>
          <a:solidFill>
            <a:schemeClr val="accent1"/>
          </a:solidFill>
          <a:ln w="6350">
            <a:solidFill>
              <a:schemeClr val="accent1"/>
            </a:solidFill>
            <a:prstDash val="solid"/>
          </a:ln>
        </p:spPr>
      </p:sp>
      <p:pic>
        <p:nvPicPr>
          <p:cNvPr id="12" name="pillar 2 icon" descr="preencoded.png">    </p:cNvPr>
          <p:cNvPicPr>
            <a:picLocks noChangeAspect="1"/>
          </p:cNvPicPr>
          <p:nvPr/>
        </p:nvPicPr>
        <p:blipFill>
          <a:blip r:embed="rId2"/>
          <a:stretch>
            <a:fillRect/>
          </a:stretch>
        </p:blipFill>
        <p:spPr>
          <a:xfrm>
            <a:off x="8343900" y="2784348"/>
            <a:ext cx="320040" cy="320040"/>
          </a:xfrm>
          <a:prstGeom prst="rect">
            <a:avLst/>
          </a:prstGeom>
        </p:spPr>
      </p:pic>
      <p:sp>
        <p:nvSpPr>
          <p:cNvPr id="13" name="Text 9"/>
          <p:cNvSpPr txBox="1"/>
          <p:nvPr/>
        </p:nvSpPr>
        <p:spPr>
          <a:xfrm>
            <a:off x="9006840" y="2596896"/>
            <a:ext cx="2514600" cy="713232"/>
          </a:xfrm>
          <a:prstGeom prst="rect">
            <a:avLst/>
          </a:prstGeom>
          <a:noFill/>
          <a:ln/>
        </p:spPr>
        <p:txBody>
          <a:bodyPr wrap="square" lIns="0" tIns="0" rIns="0" bIns="0" rtlCol="0" anchor="ctr"/>
          <a:lstStyle/>
          <a:p>
            <a:pPr indent="0" marL="0">
              <a:buNone/>
            </a:pPr>
            <a:r>
              <a:rPr lang="en-US" sz="1600" b="1" dirty="0">
                <a:solidFill>
                  <a:schemeClr val="bg2"/>
                </a:solidFill>
              </a:rPr>
              <a:t>Verified bullets</a:t>
            </a:r>
            <a:endParaRPr lang="en-US" sz="1600" dirty="0"/>
          </a:p>
          <a:p>
            <a:pPr indent="0" marL="0">
              <a:buNone/>
            </a:pPr>
            <a:r>
              <a:rPr lang="en-US" sz="1200" dirty="0">
                <a:solidFill>
                  <a:schemeClr val="accent6"/>
                </a:solidFill>
              </a:rPr>
              <a:t>A Verifier blocks anything unsupported</a:t>
            </a:r>
            <a:endParaRPr lang="en-US" sz="1600" dirty="0"/>
          </a:p>
        </p:txBody>
      </p:sp>
      <p:sp>
        <p:nvSpPr>
          <p:cNvPr id="14" name="pillar 3"/>
          <p:cNvSpPr/>
          <p:nvPr/>
        </p:nvSpPr>
        <p:spPr>
          <a:xfrm>
            <a:off x="8001000" y="3648456"/>
            <a:ext cx="3611880" cy="1005840"/>
          </a:xfrm>
          <a:prstGeom prst="roundRect">
            <a:avLst>
              <a:gd name="adj" fmla="val 10909"/>
            </a:avLst>
          </a:prstGeom>
          <a:solidFill>
            <a:schemeClr val="tx2"/>
          </a:solidFill>
          <a:ln w="9525">
            <a:solidFill>
              <a:schemeClr val="tx2"/>
            </a:solidFill>
            <a:prstDash val="solid"/>
          </a:ln>
        </p:spPr>
      </p:sp>
      <p:sp>
        <p:nvSpPr>
          <p:cNvPr id="15" name="pillar 3 circle"/>
          <p:cNvSpPr/>
          <p:nvPr/>
        </p:nvSpPr>
        <p:spPr>
          <a:xfrm>
            <a:off x="8183880" y="3831336"/>
            <a:ext cx="640080" cy="640080"/>
          </a:xfrm>
          <a:prstGeom prst="ellipse">
            <a:avLst/>
          </a:prstGeom>
          <a:solidFill>
            <a:schemeClr val="accent1"/>
          </a:solidFill>
          <a:ln w="6350">
            <a:solidFill>
              <a:schemeClr val="accent1"/>
            </a:solidFill>
            <a:prstDash val="solid"/>
          </a:ln>
        </p:spPr>
      </p:sp>
      <p:pic>
        <p:nvPicPr>
          <p:cNvPr id="16" name="pillar 3 icon" descr="preencoded.png">    </p:cNvPr>
          <p:cNvPicPr>
            <a:picLocks noChangeAspect="1"/>
          </p:cNvPicPr>
          <p:nvPr/>
        </p:nvPicPr>
        <p:blipFill>
          <a:blip r:embed="rId3"/>
          <a:stretch>
            <a:fillRect/>
          </a:stretch>
        </p:blipFill>
        <p:spPr>
          <a:xfrm>
            <a:off x="8343900" y="3991356"/>
            <a:ext cx="320040" cy="320040"/>
          </a:xfrm>
          <a:prstGeom prst="rect">
            <a:avLst/>
          </a:prstGeom>
        </p:spPr>
      </p:pic>
      <p:sp>
        <p:nvSpPr>
          <p:cNvPr id="17" name="Text 12"/>
          <p:cNvSpPr txBox="1"/>
          <p:nvPr/>
        </p:nvSpPr>
        <p:spPr>
          <a:xfrm>
            <a:off x="9006840" y="3803904"/>
            <a:ext cx="2514600" cy="713232"/>
          </a:xfrm>
          <a:prstGeom prst="rect">
            <a:avLst/>
          </a:prstGeom>
          <a:noFill/>
          <a:ln/>
        </p:spPr>
        <p:txBody>
          <a:bodyPr wrap="square" lIns="0" tIns="0" rIns="0" bIns="0" rtlCol="0" anchor="ctr"/>
          <a:lstStyle/>
          <a:p>
            <a:pPr indent="0" marL="0">
              <a:buNone/>
            </a:pPr>
            <a:r>
              <a:rPr lang="en-US" sz="1600" b="1" dirty="0">
                <a:solidFill>
                  <a:schemeClr val="bg2"/>
                </a:solidFill>
              </a:rPr>
              <a:t>Explainable score</a:t>
            </a:r>
            <a:endParaRPr lang="en-US" sz="1600" dirty="0"/>
          </a:p>
          <a:p>
            <a:pPr indent="0" marL="0">
              <a:buNone/>
            </a:pPr>
            <a:r>
              <a:rPr lang="en-US" sz="1200" dirty="0">
                <a:solidFill>
                  <a:schemeClr val="accent6"/>
                </a:solidFill>
              </a:rPr>
              <a:t>Plain maths, same input = same score</a:t>
            </a:r>
            <a:endParaRPr lang="en-US" sz="1600" dirty="0"/>
          </a:p>
        </p:txBody>
      </p:sp>
      <p:sp>
        <p:nvSpPr>
          <p:cNvPr id="18" name="team 1"/>
          <p:cNvSpPr/>
          <p:nvPr/>
        </p:nvSpPr>
        <p:spPr>
          <a:xfrm>
            <a:off x="640080" y="5257800"/>
            <a:ext cx="2596896" cy="868680"/>
          </a:xfrm>
          <a:prstGeom prst="roundRect">
            <a:avLst>
              <a:gd name="adj" fmla="val 12632"/>
            </a:avLst>
          </a:prstGeom>
          <a:solidFill>
            <a:schemeClr val="tx2"/>
          </a:solidFill>
          <a:ln w="9525">
            <a:solidFill>
              <a:schemeClr val="tx2"/>
            </a:solidFill>
            <a:prstDash val="solid"/>
          </a:ln>
        </p:spPr>
      </p:sp>
      <p:sp>
        <p:nvSpPr>
          <p:cNvPr id="19" name="Text 14"/>
          <p:cNvSpPr txBox="1"/>
          <p:nvPr/>
        </p:nvSpPr>
        <p:spPr>
          <a:xfrm>
            <a:off x="841248" y="5349240"/>
            <a:ext cx="2286000" cy="685800"/>
          </a:xfrm>
          <a:prstGeom prst="rect">
            <a:avLst/>
          </a:prstGeom>
          <a:noFill/>
          <a:ln/>
        </p:spPr>
        <p:txBody>
          <a:bodyPr wrap="square" lIns="0" tIns="0" rIns="0" bIns="0" rtlCol="0" anchor="ctr"/>
          <a:lstStyle/>
          <a:p>
            <a:pPr indent="0" marL="0">
              <a:buNone/>
            </a:pPr>
            <a:r>
              <a:rPr lang="en-US" sz="1500" b="1" dirty="0">
                <a:solidFill>
                  <a:schemeClr val="bg2"/>
                </a:solidFill>
              </a:rPr>
              <a:t>Palak Bhatt</a:t>
            </a:r>
            <a:endParaRPr lang="en-US" sz="1500" dirty="0"/>
          </a:p>
          <a:p>
            <a:pPr indent="0" marL="0">
              <a:buNone/>
            </a:pPr>
            <a:r>
              <a:rPr lang="en-US" sz="1200" dirty="0">
                <a:solidFill>
                  <a:schemeClr val="accent2"/>
                </a:solidFill>
              </a:rPr>
              <a:t>230839</a:t>
            </a:r>
            <a:endParaRPr lang="en-US" sz="1500" dirty="0"/>
          </a:p>
        </p:txBody>
      </p:sp>
      <p:sp>
        <p:nvSpPr>
          <p:cNvPr id="20" name="team 2"/>
          <p:cNvSpPr/>
          <p:nvPr/>
        </p:nvSpPr>
        <p:spPr>
          <a:xfrm>
            <a:off x="3419856" y="5257800"/>
            <a:ext cx="2596896" cy="868680"/>
          </a:xfrm>
          <a:prstGeom prst="roundRect">
            <a:avLst>
              <a:gd name="adj" fmla="val 12632"/>
            </a:avLst>
          </a:prstGeom>
          <a:solidFill>
            <a:schemeClr val="tx2"/>
          </a:solidFill>
          <a:ln w="9525">
            <a:solidFill>
              <a:schemeClr val="tx2"/>
            </a:solidFill>
            <a:prstDash val="solid"/>
          </a:ln>
        </p:spPr>
      </p:sp>
      <p:sp>
        <p:nvSpPr>
          <p:cNvPr id="21" name="Text 16"/>
          <p:cNvSpPr txBox="1"/>
          <p:nvPr/>
        </p:nvSpPr>
        <p:spPr>
          <a:xfrm>
            <a:off x="3621024" y="5349240"/>
            <a:ext cx="2286000" cy="685800"/>
          </a:xfrm>
          <a:prstGeom prst="rect">
            <a:avLst/>
          </a:prstGeom>
          <a:noFill/>
          <a:ln/>
        </p:spPr>
        <p:txBody>
          <a:bodyPr wrap="square" lIns="0" tIns="0" rIns="0" bIns="0" rtlCol="0" anchor="ctr"/>
          <a:lstStyle/>
          <a:p>
            <a:pPr indent="0" marL="0">
              <a:buNone/>
            </a:pPr>
            <a:r>
              <a:rPr lang="en-US" sz="1500" b="1" dirty="0">
                <a:solidFill>
                  <a:schemeClr val="bg2"/>
                </a:solidFill>
              </a:rPr>
              <a:t>Manya Agarwal</a:t>
            </a:r>
            <a:endParaRPr lang="en-US" sz="1500" dirty="0"/>
          </a:p>
          <a:p>
            <a:pPr indent="0" marL="0">
              <a:buNone/>
            </a:pPr>
            <a:r>
              <a:rPr lang="en-US" sz="1200" dirty="0">
                <a:solidFill>
                  <a:schemeClr val="accent2"/>
                </a:solidFill>
              </a:rPr>
              <a:t>230811</a:t>
            </a:r>
            <a:endParaRPr lang="en-US" sz="1500" dirty="0"/>
          </a:p>
        </p:txBody>
      </p:sp>
      <p:sp>
        <p:nvSpPr>
          <p:cNvPr id="22" name="team 3"/>
          <p:cNvSpPr/>
          <p:nvPr/>
        </p:nvSpPr>
        <p:spPr>
          <a:xfrm>
            <a:off x="6199632" y="5257800"/>
            <a:ext cx="2596896" cy="868680"/>
          </a:xfrm>
          <a:prstGeom prst="roundRect">
            <a:avLst>
              <a:gd name="adj" fmla="val 12632"/>
            </a:avLst>
          </a:prstGeom>
          <a:solidFill>
            <a:schemeClr val="tx2"/>
          </a:solidFill>
          <a:ln w="9525">
            <a:solidFill>
              <a:schemeClr val="tx2"/>
            </a:solidFill>
            <a:prstDash val="solid"/>
          </a:ln>
        </p:spPr>
      </p:sp>
      <p:sp>
        <p:nvSpPr>
          <p:cNvPr id="23" name="Text 18"/>
          <p:cNvSpPr txBox="1"/>
          <p:nvPr/>
        </p:nvSpPr>
        <p:spPr>
          <a:xfrm>
            <a:off x="6400800" y="5349240"/>
            <a:ext cx="2286000" cy="685800"/>
          </a:xfrm>
          <a:prstGeom prst="rect">
            <a:avLst/>
          </a:prstGeom>
          <a:noFill/>
          <a:ln/>
        </p:spPr>
        <p:txBody>
          <a:bodyPr wrap="square" lIns="0" tIns="0" rIns="0" bIns="0" rtlCol="0" anchor="ctr"/>
          <a:lstStyle/>
          <a:p>
            <a:pPr indent="0" marL="0">
              <a:buNone/>
            </a:pPr>
            <a:r>
              <a:rPr lang="en-US" sz="1500" b="1" dirty="0">
                <a:solidFill>
                  <a:schemeClr val="bg2"/>
                </a:solidFill>
              </a:rPr>
              <a:t>Vanshik Soni</a:t>
            </a:r>
            <a:endParaRPr lang="en-US" sz="1500" dirty="0"/>
          </a:p>
          <a:p>
            <a:pPr indent="0" marL="0">
              <a:buNone/>
            </a:pPr>
            <a:r>
              <a:rPr lang="en-US" sz="1200" dirty="0">
                <a:solidFill>
                  <a:schemeClr val="accent2"/>
                </a:solidFill>
              </a:rPr>
              <a:t>230887</a:t>
            </a:r>
            <a:endParaRPr lang="en-US" sz="1500" dirty="0"/>
          </a:p>
        </p:txBody>
      </p:sp>
      <p:sp>
        <p:nvSpPr>
          <p:cNvPr id="24" name="team 4"/>
          <p:cNvSpPr/>
          <p:nvPr/>
        </p:nvSpPr>
        <p:spPr>
          <a:xfrm>
            <a:off x="8979408" y="5257800"/>
            <a:ext cx="2596896" cy="868680"/>
          </a:xfrm>
          <a:prstGeom prst="roundRect">
            <a:avLst>
              <a:gd name="adj" fmla="val 12632"/>
            </a:avLst>
          </a:prstGeom>
          <a:solidFill>
            <a:schemeClr val="tx2"/>
          </a:solidFill>
          <a:ln w="9525">
            <a:solidFill>
              <a:schemeClr val="tx2"/>
            </a:solidFill>
            <a:prstDash val="solid"/>
          </a:ln>
        </p:spPr>
      </p:sp>
      <p:sp>
        <p:nvSpPr>
          <p:cNvPr id="25" name="Text 20"/>
          <p:cNvSpPr txBox="1"/>
          <p:nvPr/>
        </p:nvSpPr>
        <p:spPr>
          <a:xfrm>
            <a:off x="9180576" y="5349240"/>
            <a:ext cx="2286000" cy="685800"/>
          </a:xfrm>
          <a:prstGeom prst="rect">
            <a:avLst/>
          </a:prstGeom>
          <a:noFill/>
          <a:ln/>
        </p:spPr>
        <p:txBody>
          <a:bodyPr wrap="square" lIns="0" tIns="0" rIns="0" bIns="0" rtlCol="0" anchor="ctr"/>
          <a:lstStyle/>
          <a:p>
            <a:pPr indent="0" marL="0">
              <a:buNone/>
            </a:pPr>
            <a:r>
              <a:rPr lang="en-US" sz="1500" b="1" dirty="0">
                <a:solidFill>
                  <a:schemeClr val="bg2"/>
                </a:solidFill>
              </a:rPr>
              <a:t>Harman Singh Kanwar</a:t>
            </a:r>
            <a:endParaRPr lang="en-US" sz="1500" dirty="0"/>
          </a:p>
          <a:p>
            <a:pPr indent="0" marL="0">
              <a:buNone/>
            </a:pPr>
            <a:r>
              <a:rPr lang="en-US" sz="1200" dirty="0">
                <a:solidFill>
                  <a:schemeClr val="accent2"/>
                </a:solidFill>
              </a:rPr>
              <a:t>230656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indent="0" marL="0">
              <a:buNone/>
            </a:pPr>
            <a:r>
              <a:rPr lang="en-US" sz="3200" b="1" dirty="0">
                <a:solidFill>
                  <a:schemeClr val="bg2"/>
                </a:solidFill>
                <a:latin typeface="Cambria" pitchFamily="34" charset="0"/>
                <a:ea typeface="Cambria" pitchFamily="34" charset="-122"/>
                <a:cs typeface="Cambria" pitchFamily="34" charset="-120"/>
              </a:rPr>
              <a:t>Tailoring resumes is slow, and AI tools can't be trusted</a:t>
            </a:r>
            <a:endParaRPr lang="en-US" sz="3200" dirty="0"/>
          </a:p>
        </p:txBody>
      </p:sp>
      <p:sp>
        <p:nvSpPr>
          <p:cNvPr id="3" name="Text 1"/>
          <p:cNvSpPr txBox="1"/>
          <p:nvPr/>
        </p:nvSpPr>
        <p:spPr>
          <a:xfrm>
            <a:off x="548640" y="1371600"/>
            <a:ext cx="53035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THE PROBLEM</a:t>
            </a:r>
            <a:endParaRPr lang="en-US" sz="1200" dirty="0"/>
          </a:p>
        </p:txBody>
      </p:sp>
      <p:sp>
        <p:nvSpPr>
          <p:cNvPr id="4" name="problem 1"/>
          <p:cNvSpPr/>
          <p:nvPr/>
        </p:nvSpPr>
        <p:spPr>
          <a:xfrm>
            <a:off x="548640" y="1783080"/>
            <a:ext cx="5394960" cy="1234440"/>
          </a:xfrm>
          <a:prstGeom prst="roundRect">
            <a:avLst>
              <a:gd name="adj" fmla="val 8889"/>
            </a:avLst>
          </a:prstGeom>
          <a:solidFill>
            <a:schemeClr val="tx2"/>
          </a:solidFill>
          <a:ln w="9525">
            <a:solidFill>
              <a:schemeClr val="tx2"/>
            </a:solidFill>
            <a:prstDash val="solid"/>
          </a:ln>
        </p:spPr>
      </p:sp>
      <p:sp>
        <p:nvSpPr>
          <p:cNvPr id="5" name="problem 1 circle"/>
          <p:cNvSpPr/>
          <p:nvPr/>
        </p:nvSpPr>
        <p:spPr>
          <a:xfrm>
            <a:off x="777240" y="2057400"/>
            <a:ext cx="685800" cy="685800"/>
          </a:xfrm>
          <a:prstGeom prst="ellipse">
            <a:avLst/>
          </a:prstGeom>
          <a:solidFill>
            <a:schemeClr val="accent5"/>
          </a:solidFill>
          <a:ln w="6350">
            <a:solidFill>
              <a:schemeClr val="accent5"/>
            </a:solidFill>
            <a:prstDash val="solid"/>
          </a:ln>
        </p:spPr>
      </p:sp>
      <p:pic>
        <p:nvPicPr>
          <p:cNvPr id="6" name="problem 1 icon" descr="preencoded.png">    </p:cNvPr>
          <p:cNvPicPr>
            <a:picLocks noChangeAspect="1"/>
          </p:cNvPicPr>
          <p:nvPr/>
        </p:nvPicPr>
        <p:blipFill>
          <a:blip r:embed="rId1"/>
          <a:stretch>
            <a:fillRect/>
          </a:stretch>
        </p:blipFill>
        <p:spPr>
          <a:xfrm>
            <a:off x="948690" y="2228850"/>
            <a:ext cx="342900" cy="342900"/>
          </a:xfrm>
          <a:prstGeom prst="rect">
            <a:avLst/>
          </a:prstGeom>
        </p:spPr>
      </p:pic>
      <p:sp>
        <p:nvSpPr>
          <p:cNvPr id="7" name="Text 4"/>
          <p:cNvSpPr txBox="1"/>
          <p:nvPr/>
        </p:nvSpPr>
        <p:spPr>
          <a:xfrm>
            <a:off x="1691640" y="1920240"/>
            <a:ext cx="4069080" cy="960120"/>
          </a:xfrm>
          <a:prstGeom prst="rect">
            <a:avLst/>
          </a:prstGeom>
          <a:noFill/>
          <a:ln/>
        </p:spPr>
        <p:txBody>
          <a:bodyPr wrap="square" lIns="0" tIns="0" rIns="0" bIns="0" rtlCol="0" anchor="ctr"/>
          <a:lstStyle/>
          <a:p>
            <a:pPr indent="0" marL="0">
              <a:spcAft>
                <a:spcPts val="300"/>
              </a:spcAft>
              <a:buNone/>
            </a:pPr>
            <a:r>
              <a:rPr lang="en-US" sz="1800" b="1" dirty="0">
                <a:solidFill>
                  <a:schemeClr val="bg2"/>
                </a:solidFill>
              </a:rPr>
              <a:t>Rewritten for every job</a:t>
            </a:r>
            <a:endParaRPr lang="en-US" sz="1800" dirty="0"/>
          </a:p>
          <a:p>
            <a:pPr indent="0" marL="0">
              <a:spcAft>
                <a:spcPts val="300"/>
              </a:spcAft>
              <a:buNone/>
            </a:pPr>
            <a:r>
              <a:rPr lang="en-US" sz="1400" dirty="0">
                <a:solidFill>
                  <a:schemeClr val="accent6"/>
                </a:solidFill>
              </a:rPr>
              <a:t>The same skills and projects are re-tailored by hand for each application.</a:t>
            </a:r>
            <a:endParaRPr lang="en-US" sz="1800" dirty="0"/>
          </a:p>
        </p:txBody>
      </p:sp>
      <p:sp>
        <p:nvSpPr>
          <p:cNvPr id="8" name="problem 2"/>
          <p:cNvSpPr/>
          <p:nvPr/>
        </p:nvSpPr>
        <p:spPr>
          <a:xfrm>
            <a:off x="548640" y="3246120"/>
            <a:ext cx="5394960" cy="1234440"/>
          </a:xfrm>
          <a:prstGeom prst="roundRect">
            <a:avLst>
              <a:gd name="adj" fmla="val 8889"/>
            </a:avLst>
          </a:prstGeom>
          <a:solidFill>
            <a:schemeClr val="tx2"/>
          </a:solidFill>
          <a:ln w="9525">
            <a:solidFill>
              <a:schemeClr val="tx2"/>
            </a:solidFill>
            <a:prstDash val="solid"/>
          </a:ln>
        </p:spPr>
      </p:sp>
      <p:sp>
        <p:nvSpPr>
          <p:cNvPr id="9" name="problem 2 circle"/>
          <p:cNvSpPr/>
          <p:nvPr/>
        </p:nvSpPr>
        <p:spPr>
          <a:xfrm>
            <a:off x="777240" y="3520440"/>
            <a:ext cx="685800" cy="685800"/>
          </a:xfrm>
          <a:prstGeom prst="ellipse">
            <a:avLst/>
          </a:prstGeom>
          <a:solidFill>
            <a:schemeClr val="accent5"/>
          </a:solidFill>
          <a:ln w="6350">
            <a:solidFill>
              <a:schemeClr val="accent5"/>
            </a:solidFill>
            <a:prstDash val="solid"/>
          </a:ln>
        </p:spPr>
      </p:sp>
      <p:pic>
        <p:nvPicPr>
          <p:cNvPr id="10" name="problem 2 icon" descr="preencoded.png">    </p:cNvPr>
          <p:cNvPicPr>
            <a:picLocks noChangeAspect="1"/>
          </p:cNvPicPr>
          <p:nvPr/>
        </p:nvPicPr>
        <p:blipFill>
          <a:blip r:embed="rId2"/>
          <a:stretch>
            <a:fillRect/>
          </a:stretch>
        </p:blipFill>
        <p:spPr>
          <a:xfrm>
            <a:off x="948690" y="3691890"/>
            <a:ext cx="342900" cy="342900"/>
          </a:xfrm>
          <a:prstGeom prst="rect">
            <a:avLst/>
          </a:prstGeom>
        </p:spPr>
      </p:pic>
      <p:sp>
        <p:nvSpPr>
          <p:cNvPr id="11" name="Text 7"/>
          <p:cNvSpPr txBox="1"/>
          <p:nvPr/>
        </p:nvSpPr>
        <p:spPr>
          <a:xfrm>
            <a:off x="1691640" y="3383280"/>
            <a:ext cx="4069080" cy="960120"/>
          </a:xfrm>
          <a:prstGeom prst="rect">
            <a:avLst/>
          </a:prstGeom>
          <a:noFill/>
          <a:ln/>
        </p:spPr>
        <p:txBody>
          <a:bodyPr wrap="square" lIns="0" tIns="0" rIns="0" bIns="0" rtlCol="0" anchor="ctr"/>
          <a:lstStyle/>
          <a:p>
            <a:pPr indent="0" marL="0">
              <a:spcAft>
                <a:spcPts val="300"/>
              </a:spcAft>
              <a:buNone/>
            </a:pPr>
            <a:r>
              <a:rPr lang="en-US" sz="1800" b="1" dirty="0">
                <a:solidFill>
                  <a:schemeClr val="bg2"/>
                </a:solidFill>
              </a:rPr>
              <a:t>Generic AI invents details</a:t>
            </a:r>
            <a:endParaRPr lang="en-US" sz="1800" dirty="0"/>
          </a:p>
          <a:p>
            <a:pPr indent="0" marL="0">
              <a:spcAft>
                <a:spcPts val="300"/>
              </a:spcAft>
              <a:buNone/>
            </a:pPr>
            <a:r>
              <a:rPr lang="en-US" sz="1400" dirty="0">
                <a:solidFill>
                  <a:schemeClr val="accent6"/>
                </a:solidFill>
              </a:rPr>
              <a:t>Chat tools drop components, swap technologies or change metrics.</a:t>
            </a:r>
            <a:endParaRPr lang="en-US" sz="1800" dirty="0"/>
          </a:p>
        </p:txBody>
      </p:sp>
      <p:sp>
        <p:nvSpPr>
          <p:cNvPr id="12" name="problem 3"/>
          <p:cNvSpPr/>
          <p:nvPr/>
        </p:nvSpPr>
        <p:spPr>
          <a:xfrm>
            <a:off x="548640" y="4709160"/>
            <a:ext cx="5394960" cy="1234440"/>
          </a:xfrm>
          <a:prstGeom prst="roundRect">
            <a:avLst>
              <a:gd name="adj" fmla="val 8889"/>
            </a:avLst>
          </a:prstGeom>
          <a:solidFill>
            <a:schemeClr val="tx2"/>
          </a:solidFill>
          <a:ln w="9525">
            <a:solidFill>
              <a:schemeClr val="tx2"/>
            </a:solidFill>
            <a:prstDash val="solid"/>
          </a:ln>
        </p:spPr>
      </p:sp>
      <p:sp>
        <p:nvSpPr>
          <p:cNvPr id="13" name="problem 3 circle"/>
          <p:cNvSpPr/>
          <p:nvPr/>
        </p:nvSpPr>
        <p:spPr>
          <a:xfrm>
            <a:off x="777240" y="4983480"/>
            <a:ext cx="685800" cy="685800"/>
          </a:xfrm>
          <a:prstGeom prst="ellipse">
            <a:avLst/>
          </a:prstGeom>
          <a:solidFill>
            <a:schemeClr val="accent5"/>
          </a:solidFill>
          <a:ln w="6350">
            <a:solidFill>
              <a:schemeClr val="accent5"/>
            </a:solidFill>
            <a:prstDash val="solid"/>
          </a:ln>
        </p:spPr>
      </p:sp>
      <p:pic>
        <p:nvPicPr>
          <p:cNvPr id="14" name="problem 3 icon" descr="preencoded.png">    </p:cNvPr>
          <p:cNvPicPr>
            <a:picLocks noChangeAspect="1"/>
          </p:cNvPicPr>
          <p:nvPr/>
        </p:nvPicPr>
        <p:blipFill>
          <a:blip r:embed="rId3"/>
          <a:stretch>
            <a:fillRect/>
          </a:stretch>
        </p:blipFill>
        <p:spPr>
          <a:xfrm>
            <a:off x="948690" y="5154930"/>
            <a:ext cx="342900" cy="342900"/>
          </a:xfrm>
          <a:prstGeom prst="rect">
            <a:avLst/>
          </a:prstGeom>
        </p:spPr>
      </p:pic>
      <p:sp>
        <p:nvSpPr>
          <p:cNvPr id="15" name="Text 10"/>
          <p:cNvSpPr txBox="1"/>
          <p:nvPr/>
        </p:nvSpPr>
        <p:spPr>
          <a:xfrm>
            <a:off x="1691640" y="4846320"/>
            <a:ext cx="4069080" cy="960120"/>
          </a:xfrm>
          <a:prstGeom prst="rect">
            <a:avLst/>
          </a:prstGeom>
          <a:noFill/>
          <a:ln/>
        </p:spPr>
        <p:txBody>
          <a:bodyPr wrap="square" lIns="0" tIns="0" rIns="0" bIns="0" rtlCol="0" anchor="ctr"/>
          <a:lstStyle/>
          <a:p>
            <a:pPr indent="0" marL="0">
              <a:spcAft>
                <a:spcPts val="300"/>
              </a:spcAft>
              <a:buNone/>
            </a:pPr>
            <a:r>
              <a:rPr lang="en-US" sz="1800" b="1" dirty="0">
                <a:solidFill>
                  <a:schemeClr val="bg2"/>
                </a:solidFill>
              </a:rPr>
              <a:t>Scores without reasons</a:t>
            </a:r>
            <a:endParaRPr lang="en-US" sz="1800" dirty="0"/>
          </a:p>
          <a:p>
            <a:pPr indent="0" marL="0">
              <a:spcAft>
                <a:spcPts val="300"/>
              </a:spcAft>
              <a:buNone/>
            </a:pPr>
            <a:r>
              <a:rPr lang="en-US" sz="1400" dirty="0">
                <a:solidFill>
                  <a:schemeClr val="accent6"/>
                </a:solidFill>
              </a:rPr>
              <a:t>ATS checkers give different numbers and hide the breakdown behind paywalls.</a:t>
            </a:r>
            <a:endParaRPr lang="en-US" sz="1800" dirty="0"/>
          </a:p>
        </p:txBody>
      </p:sp>
      <p:sp>
        <p:nvSpPr>
          <p:cNvPr id="16" name="problem to solution arrow"/>
          <p:cNvSpPr/>
          <p:nvPr/>
        </p:nvSpPr>
        <p:spPr>
          <a:xfrm>
            <a:off x="6126480" y="3611880"/>
            <a:ext cx="502920" cy="502920"/>
          </a:xfrm>
          <a:prstGeom prst="rightArrow">
            <a:avLst/>
          </a:prstGeom>
          <a:solidFill>
            <a:schemeClr val="accent1"/>
          </a:solidFill>
          <a:ln w="6350">
            <a:solidFill>
              <a:schemeClr val="accent1"/>
            </a:solidFill>
            <a:prstDash val="solid"/>
          </a:ln>
        </p:spPr>
      </p:sp>
      <p:sp>
        <p:nvSpPr>
          <p:cNvPr id="17" name="Text 12"/>
          <p:cNvSpPr txBox="1"/>
          <p:nvPr/>
        </p:nvSpPr>
        <p:spPr>
          <a:xfrm>
            <a:off x="6812280" y="1371600"/>
            <a:ext cx="475488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OUR ANSWER</a:t>
            </a:r>
            <a:endParaRPr lang="en-US" sz="1200" dirty="0"/>
          </a:p>
        </p:txBody>
      </p:sp>
      <p:sp>
        <p:nvSpPr>
          <p:cNvPr id="18" name="solution panel"/>
          <p:cNvSpPr/>
          <p:nvPr/>
        </p:nvSpPr>
        <p:spPr>
          <a:xfrm>
            <a:off x="6812280" y="1783080"/>
            <a:ext cx="4800600" cy="4160520"/>
          </a:xfrm>
          <a:prstGeom prst="roundRect">
            <a:avLst>
              <a:gd name="adj" fmla="val 2637"/>
            </a:avLst>
          </a:prstGeom>
          <a:solidFill>
            <a:schemeClr val="accent5"/>
          </a:solidFill>
          <a:ln w="9525">
            <a:solidFill>
              <a:schemeClr val="accent5"/>
            </a:solidFill>
            <a:prstDash val="solid"/>
          </a:ln>
        </p:spPr>
      </p:sp>
      <p:sp>
        <p:nvSpPr>
          <p:cNvPr id="19" name="solution number 1"/>
          <p:cNvSpPr/>
          <p:nvPr/>
        </p:nvSpPr>
        <p:spPr>
          <a:xfrm>
            <a:off x="7086600" y="2057400"/>
            <a:ext cx="548640" cy="548640"/>
          </a:xfrm>
          <a:prstGeom prst="ellipse">
            <a:avLst/>
          </a:prstGeom>
          <a:solidFill>
            <a:schemeClr val="accent1"/>
          </a:solidFill>
          <a:ln w="6350">
            <a:solidFill>
              <a:schemeClr val="accent1"/>
            </a:solidFill>
            <a:prstDash val="solid"/>
          </a:ln>
        </p:spPr>
      </p:sp>
      <p:sp>
        <p:nvSpPr>
          <p:cNvPr id="20" name="Text 15"/>
          <p:cNvSpPr txBox="1"/>
          <p:nvPr/>
        </p:nvSpPr>
        <p:spPr>
          <a:xfrm>
            <a:off x="7086600" y="20574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21" name="Text 16"/>
          <p:cNvSpPr txBox="1"/>
          <p:nvPr/>
        </p:nvSpPr>
        <p:spPr>
          <a:xfrm>
            <a:off x="7863840" y="1965960"/>
            <a:ext cx="3566160" cy="1097280"/>
          </a:xfrm>
          <a:prstGeom prst="rect">
            <a:avLst/>
          </a:prstGeom>
          <a:noFill/>
          <a:ln/>
        </p:spPr>
        <p:txBody>
          <a:bodyPr wrap="square" lIns="0" tIns="0" rIns="0" bIns="0" rtlCol="0" anchor="t"/>
          <a:lstStyle/>
          <a:p>
            <a:pPr indent="0" marL="0">
              <a:spcAft>
                <a:spcPts val="300"/>
              </a:spcAft>
              <a:buNone/>
            </a:pPr>
            <a:r>
              <a:rPr lang="en-US" sz="1800" b="1" dirty="0">
                <a:solidFill>
                  <a:schemeClr val="bg2"/>
                </a:solidFill>
              </a:rPr>
              <a:t>A fact ledger</a:t>
            </a:r>
            <a:endParaRPr lang="en-US" sz="1800" dirty="0"/>
          </a:p>
          <a:p>
            <a:pPr indent="0" marL="0">
              <a:spcAft>
                <a:spcPts val="300"/>
              </a:spcAft>
              <a:buNone/>
            </a:pPr>
            <a:r>
              <a:rPr lang="en-US" sz="1400" dirty="0">
                <a:solidFill>
                  <a:schemeClr val="accent4"/>
                </a:solidFill>
              </a:rPr>
              <a:t>Every claim about your work is stored with the exact quote it came from.</a:t>
            </a:r>
            <a:endParaRPr lang="en-US" sz="1800" dirty="0"/>
          </a:p>
        </p:txBody>
      </p:sp>
      <p:sp>
        <p:nvSpPr>
          <p:cNvPr id="22" name="solution number 2"/>
          <p:cNvSpPr/>
          <p:nvPr/>
        </p:nvSpPr>
        <p:spPr>
          <a:xfrm>
            <a:off x="7086600" y="3319272"/>
            <a:ext cx="548640" cy="548640"/>
          </a:xfrm>
          <a:prstGeom prst="ellipse">
            <a:avLst/>
          </a:prstGeom>
          <a:solidFill>
            <a:schemeClr val="accent1"/>
          </a:solidFill>
          <a:ln w="6350">
            <a:solidFill>
              <a:schemeClr val="accent1"/>
            </a:solidFill>
            <a:prstDash val="solid"/>
          </a:ln>
        </p:spPr>
      </p:sp>
      <p:sp>
        <p:nvSpPr>
          <p:cNvPr id="23" name="Text 18"/>
          <p:cNvSpPr txBox="1"/>
          <p:nvPr/>
        </p:nvSpPr>
        <p:spPr>
          <a:xfrm>
            <a:off x="7086600" y="3319272"/>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4" name="Text 19"/>
          <p:cNvSpPr txBox="1"/>
          <p:nvPr/>
        </p:nvSpPr>
        <p:spPr>
          <a:xfrm>
            <a:off x="7863840" y="3227832"/>
            <a:ext cx="3566160" cy="1097280"/>
          </a:xfrm>
          <a:prstGeom prst="rect">
            <a:avLst/>
          </a:prstGeom>
          <a:noFill/>
          <a:ln/>
        </p:spPr>
        <p:txBody>
          <a:bodyPr wrap="square" lIns="0" tIns="0" rIns="0" bIns="0" rtlCol="0" anchor="t"/>
          <a:lstStyle/>
          <a:p>
            <a:pPr indent="0" marL="0">
              <a:spcAft>
                <a:spcPts val="300"/>
              </a:spcAft>
              <a:buNone/>
            </a:pPr>
            <a:r>
              <a:rPr lang="en-US" sz="1800" b="1" dirty="0">
                <a:solidFill>
                  <a:schemeClr val="bg2"/>
                </a:solidFill>
              </a:rPr>
              <a:t>Agents that can't make things up</a:t>
            </a:r>
            <a:endParaRPr lang="en-US" sz="1800" dirty="0"/>
          </a:p>
          <a:p>
            <a:pPr indent="0" marL="0">
              <a:spcAft>
                <a:spcPts val="300"/>
              </a:spcAft>
              <a:buNone/>
            </a:pPr>
            <a:r>
              <a:rPr lang="en-US" sz="1400" dirty="0">
                <a:solidFill>
                  <a:schemeClr val="accent4"/>
                </a:solidFill>
              </a:rPr>
              <a:t>They tailor the resume for each job using only those verified facts.</a:t>
            </a:r>
            <a:endParaRPr lang="en-US" sz="1800" dirty="0"/>
          </a:p>
        </p:txBody>
      </p:sp>
      <p:sp>
        <p:nvSpPr>
          <p:cNvPr id="25" name="solution number 3"/>
          <p:cNvSpPr/>
          <p:nvPr/>
        </p:nvSpPr>
        <p:spPr>
          <a:xfrm>
            <a:off x="7086600" y="4581144"/>
            <a:ext cx="548640" cy="548640"/>
          </a:xfrm>
          <a:prstGeom prst="ellipse">
            <a:avLst/>
          </a:prstGeom>
          <a:solidFill>
            <a:schemeClr val="accent1"/>
          </a:solidFill>
          <a:ln w="6350">
            <a:solidFill>
              <a:schemeClr val="accent1"/>
            </a:solidFill>
            <a:prstDash val="solid"/>
          </a:ln>
        </p:spPr>
      </p:sp>
      <p:sp>
        <p:nvSpPr>
          <p:cNvPr id="26" name="Text 21"/>
          <p:cNvSpPr txBox="1"/>
          <p:nvPr/>
        </p:nvSpPr>
        <p:spPr>
          <a:xfrm>
            <a:off x="7086600" y="4581144"/>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7" name="Text 22"/>
          <p:cNvSpPr txBox="1"/>
          <p:nvPr/>
        </p:nvSpPr>
        <p:spPr>
          <a:xfrm>
            <a:off x="7863840" y="4489704"/>
            <a:ext cx="3566160" cy="1097280"/>
          </a:xfrm>
          <a:prstGeom prst="rect">
            <a:avLst/>
          </a:prstGeom>
          <a:noFill/>
          <a:ln/>
        </p:spPr>
        <p:txBody>
          <a:bodyPr wrap="square" lIns="0" tIns="0" rIns="0" bIns="0" rtlCol="0" anchor="t"/>
          <a:lstStyle/>
          <a:p>
            <a:pPr indent="0" marL="0">
              <a:spcAft>
                <a:spcPts val="300"/>
              </a:spcAft>
              <a:buNone/>
            </a:pPr>
            <a:r>
              <a:rPr lang="en-US" sz="1800" b="1" dirty="0">
                <a:solidFill>
                  <a:schemeClr val="bg2"/>
                </a:solidFill>
              </a:rPr>
              <a:t>A score you can explain</a:t>
            </a:r>
            <a:endParaRPr lang="en-US" sz="1800" dirty="0"/>
          </a:p>
          <a:p>
            <a:pPr indent="0" marL="0">
              <a:spcAft>
                <a:spcPts val="300"/>
              </a:spcAft>
              <a:buNone/>
            </a:pPr>
            <a:r>
              <a:rPr lang="en-US" sz="1400" dirty="0">
                <a:solidFill>
                  <a:schemeClr val="accent4"/>
                </a:solidFill>
              </a:rPr>
              <a:t>Plain maths, so the same resume and job always give the same number.</a:t>
            </a:r>
            <a:endParaRPr lang="en-US" sz="1800" dirty="0"/>
          </a:p>
        </p:txBody>
      </p:sp>
      <p:sp>
        <p:nvSpPr>
          <p:cNvPr id="28" name="Text 23"/>
          <p:cNvSpPr txBox="1"/>
          <p:nvPr/>
        </p:nvSpPr>
        <p:spPr>
          <a:xfrm>
            <a:off x="548640" y="6035040"/>
            <a:ext cx="10972800" cy="274320"/>
          </a:xfrm>
          <a:prstGeom prst="rect">
            <a:avLst/>
          </a:prstGeom>
          <a:noFill/>
          <a:ln/>
        </p:spPr>
        <p:txBody>
          <a:bodyPr wrap="square" lIns="0" tIns="0" rIns="0" bIns="0" rtlCol="0" anchor="ctr"/>
          <a:lstStyle/>
          <a:p>
            <a:pPr indent="0" marL="0">
              <a:buNone/>
            </a:pPr>
            <a:r>
              <a:rPr lang="en-US" sz="1200" i="1" dirty="0">
                <a:solidFill>
                  <a:schemeClr val="accent6"/>
                </a:solidFill>
              </a:rPr>
              <a:t>For students and early-career applicants who apply to many roles.</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indent="0" marL="0">
              <a:buNone/>
            </a:pPr>
            <a:r>
              <a:rPr lang="en-US" sz="3200" b="1" dirty="0">
                <a:solidFill>
                  <a:schemeClr val="bg2"/>
                </a:solidFill>
                <a:latin typeface="Cambria" pitchFamily="34" charset="0"/>
                <a:ea typeface="Cambria" pitchFamily="34" charset="-122"/>
                <a:cs typeface="Cambria" pitchFamily="34" charset="-120"/>
              </a:rPr>
              <a:t>How ResCraft works, from start to end</a:t>
            </a:r>
            <a:endParaRPr lang="en-US" sz="3200" dirty="0"/>
          </a:p>
        </p:txBody>
      </p:sp>
      <p:sp>
        <p:nvSpPr>
          <p:cNvPr id="3" name="Text 1"/>
          <p:cNvSpPr txBox="1"/>
          <p:nvPr/>
        </p:nvSpPr>
        <p:spPr>
          <a:xfrm>
            <a:off x="548640" y="1261872"/>
            <a:ext cx="5486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PHASE 1  ·  ONCE PER SOURCE</a:t>
            </a:r>
            <a:endParaRPr lang="en-US" sz="1200" dirty="0"/>
          </a:p>
        </p:txBody>
      </p:sp>
      <p:sp>
        <p:nvSpPr>
          <p:cNvPr id="4" name="step Add sources"/>
          <p:cNvSpPr/>
          <p:nvPr/>
        </p:nvSpPr>
        <p:spPr>
          <a:xfrm>
            <a:off x="548640" y="1600200"/>
            <a:ext cx="1600200" cy="777240"/>
          </a:xfrm>
          <a:prstGeom prst="roundRect">
            <a:avLst>
              <a:gd name="adj" fmla="val 11765"/>
            </a:avLst>
          </a:prstGeom>
          <a:solidFill>
            <a:schemeClr val="accent2"/>
          </a:solidFill>
          <a:ln w="15875">
            <a:solidFill>
              <a:schemeClr val="accent2"/>
            </a:solidFill>
            <a:prstDash val="solid"/>
          </a:ln>
        </p:spPr>
      </p:sp>
      <p:sp>
        <p:nvSpPr>
          <p:cNvPr id="5" name="label Add sources"/>
          <p:cNvSpPr txBox="1"/>
          <p:nvPr/>
        </p:nvSpPr>
        <p:spPr>
          <a:xfrm>
            <a:off x="621792" y="1600200"/>
            <a:ext cx="1453896" cy="777240"/>
          </a:xfrm>
          <a:prstGeom prst="rect">
            <a:avLst/>
          </a:prstGeom>
          <a:noFill/>
          <a:ln/>
        </p:spPr>
        <p:txBody>
          <a:bodyPr wrap="square" lIns="0" tIns="0" rIns="0" bIns="0" rtlCol="0" anchor="ctr"/>
          <a:lstStyle/>
          <a:p>
            <a:pPr algn="ctr" indent="0" marL="0">
              <a:buNone/>
            </a:pPr>
            <a:r>
              <a:rPr lang="en-US" sz="1300" b="1" dirty="0">
                <a:solidFill>
                  <a:schemeClr val="tx1"/>
                </a:solidFill>
              </a:rPr>
              <a:t>Add sources</a:t>
            </a:r>
            <a:endParaRPr lang="en-US" sz="1300" dirty="0"/>
          </a:p>
          <a:p>
            <a:pPr algn="ctr" indent="0" marL="0">
              <a:buNone/>
            </a:pPr>
            <a:r>
              <a:rPr lang="en-US" sz="1050" dirty="0">
                <a:solidFill>
                  <a:schemeClr val="accent5"/>
                </a:solidFill>
              </a:rPr>
              <a:t>Resume, GitHub, notes</a:t>
            </a:r>
            <a:endParaRPr lang="en-US" sz="1300" dirty="0"/>
          </a:p>
        </p:txBody>
      </p:sp>
      <p:sp>
        <p:nvSpPr>
          <p:cNvPr id="6" name="phase 1 arrow 1"/>
          <p:cNvSpPr/>
          <p:nvPr/>
        </p:nvSpPr>
        <p:spPr>
          <a:xfrm>
            <a:off x="2185416" y="1988820"/>
            <a:ext cx="224942" cy="914"/>
          </a:xfrm>
          <a:prstGeom prst="line">
            <a:avLst/>
          </a:prstGeom>
          <a:noFill/>
          <a:ln w="22225">
            <a:solidFill>
              <a:srgbClr val="FDBA74"/>
            </a:solidFill>
            <a:prstDash val="solid"/>
            <a:tailEnd type="triangle"/>
          </a:ln>
        </p:spPr>
      </p:sp>
      <p:sp>
        <p:nvSpPr>
          <p:cNvPr id="7" name="step Input check"/>
          <p:cNvSpPr/>
          <p:nvPr/>
        </p:nvSpPr>
        <p:spPr>
          <a:xfrm>
            <a:off x="2446934" y="1600200"/>
            <a:ext cx="1600200" cy="777240"/>
          </a:xfrm>
          <a:prstGeom prst="roundRect">
            <a:avLst>
              <a:gd name="adj" fmla="val 11765"/>
            </a:avLst>
          </a:prstGeom>
          <a:solidFill>
            <a:schemeClr val="tx2"/>
          </a:solidFill>
          <a:ln w="15875">
            <a:solidFill>
              <a:schemeClr val="accent1"/>
            </a:solidFill>
            <a:prstDash val="solid"/>
          </a:ln>
        </p:spPr>
      </p:sp>
      <p:sp>
        <p:nvSpPr>
          <p:cNvPr id="8" name="label Input check"/>
          <p:cNvSpPr txBox="1"/>
          <p:nvPr/>
        </p:nvSpPr>
        <p:spPr>
          <a:xfrm>
            <a:off x="2520086" y="1600200"/>
            <a:ext cx="1453896" cy="777240"/>
          </a:xfrm>
          <a:prstGeom prst="rect">
            <a:avLst/>
          </a:prstGeom>
          <a:noFill/>
          <a:ln/>
        </p:spPr>
        <p:txBody>
          <a:bodyPr wrap="square" lIns="0" tIns="0" rIns="0" bIns="0" rtlCol="0" anchor="ctr"/>
          <a:lstStyle/>
          <a:p>
            <a:pPr algn="ctr" indent="0" marL="0">
              <a:buNone/>
            </a:pPr>
            <a:r>
              <a:rPr lang="en-US" sz="1300" b="1" dirty="0">
                <a:solidFill>
                  <a:schemeClr val="bg2"/>
                </a:solidFill>
              </a:rPr>
              <a:t>Input check</a:t>
            </a:r>
            <a:endParaRPr lang="en-US" sz="1300" dirty="0"/>
          </a:p>
          <a:p>
            <a:pPr algn="ctr" indent="0" marL="0">
              <a:buNone/>
            </a:pPr>
            <a:r>
              <a:rPr lang="en-US" sz="1050" dirty="0">
                <a:solidFill>
                  <a:schemeClr val="accent2"/>
                </a:solidFill>
              </a:rPr>
              <a:t>Python safety scan</a:t>
            </a:r>
            <a:endParaRPr lang="en-US" sz="1300" dirty="0"/>
          </a:p>
        </p:txBody>
      </p:sp>
      <p:sp>
        <p:nvSpPr>
          <p:cNvPr id="9" name="phase 1 arrow 2"/>
          <p:cNvSpPr/>
          <p:nvPr/>
        </p:nvSpPr>
        <p:spPr>
          <a:xfrm>
            <a:off x="4083710" y="1988820"/>
            <a:ext cx="224942" cy="914"/>
          </a:xfrm>
          <a:prstGeom prst="line">
            <a:avLst/>
          </a:prstGeom>
          <a:noFill/>
          <a:ln w="22225">
            <a:solidFill>
              <a:srgbClr val="FDBA74"/>
            </a:solidFill>
            <a:prstDash val="solid"/>
            <a:tailEnd type="triangle"/>
          </a:ln>
        </p:spPr>
      </p:sp>
      <p:sp>
        <p:nvSpPr>
          <p:cNvPr id="10" name="step Source Extractor"/>
          <p:cNvSpPr/>
          <p:nvPr/>
        </p:nvSpPr>
        <p:spPr>
          <a:xfrm>
            <a:off x="4345229" y="1600200"/>
            <a:ext cx="1600200" cy="777240"/>
          </a:xfrm>
          <a:prstGeom prst="roundRect">
            <a:avLst>
              <a:gd name="adj" fmla="val 11765"/>
            </a:avLst>
          </a:prstGeom>
          <a:solidFill>
            <a:schemeClr val="accent1"/>
          </a:solidFill>
          <a:ln w="15875">
            <a:solidFill>
              <a:schemeClr val="accent1"/>
            </a:solidFill>
            <a:prstDash val="solid"/>
          </a:ln>
        </p:spPr>
      </p:sp>
      <p:sp>
        <p:nvSpPr>
          <p:cNvPr id="11" name="label Source Extractor"/>
          <p:cNvSpPr txBox="1"/>
          <p:nvPr/>
        </p:nvSpPr>
        <p:spPr>
          <a:xfrm>
            <a:off x="4418381" y="1600200"/>
            <a:ext cx="1453896" cy="777240"/>
          </a:xfrm>
          <a:prstGeom prst="rect">
            <a:avLst/>
          </a:prstGeom>
          <a:noFill/>
          <a:ln/>
        </p:spPr>
        <p:txBody>
          <a:bodyPr wrap="square" lIns="0" tIns="0" rIns="0" bIns="0" rtlCol="0" anchor="ctr"/>
          <a:lstStyle/>
          <a:p>
            <a:pPr algn="ctr" indent="0" marL="0">
              <a:buNone/>
            </a:pPr>
            <a:r>
              <a:rPr lang="en-US" sz="1300" b="1" dirty="0">
                <a:solidFill>
                  <a:schemeClr val="tx1"/>
                </a:solidFill>
              </a:rPr>
              <a:t>Source Extractor</a:t>
            </a:r>
            <a:endParaRPr lang="en-US" sz="1300" dirty="0"/>
          </a:p>
          <a:p>
            <a:pPr algn="ctr" indent="0" marL="0">
              <a:buNone/>
            </a:pPr>
            <a:r>
              <a:rPr lang="en-US" sz="1050" dirty="0">
                <a:solidFill>
                  <a:schemeClr val="tx1"/>
                </a:solidFill>
              </a:rPr>
              <a:t>CrewAI + Gemini</a:t>
            </a:r>
            <a:endParaRPr lang="en-US" sz="1300" dirty="0"/>
          </a:p>
        </p:txBody>
      </p:sp>
      <p:sp>
        <p:nvSpPr>
          <p:cNvPr id="12" name="phase 1 arrow 3"/>
          <p:cNvSpPr/>
          <p:nvPr/>
        </p:nvSpPr>
        <p:spPr>
          <a:xfrm>
            <a:off x="5982005" y="1988820"/>
            <a:ext cx="224942" cy="914"/>
          </a:xfrm>
          <a:prstGeom prst="line">
            <a:avLst/>
          </a:prstGeom>
          <a:noFill/>
          <a:ln w="22225">
            <a:solidFill>
              <a:srgbClr val="FDBA74"/>
            </a:solidFill>
            <a:prstDash val="solid"/>
            <a:tailEnd type="triangle"/>
          </a:ln>
        </p:spPr>
      </p:sp>
      <p:sp>
        <p:nvSpPr>
          <p:cNvPr id="13" name="step Span gate"/>
          <p:cNvSpPr/>
          <p:nvPr/>
        </p:nvSpPr>
        <p:spPr>
          <a:xfrm>
            <a:off x="6243523" y="1600200"/>
            <a:ext cx="1600200" cy="777240"/>
          </a:xfrm>
          <a:prstGeom prst="roundRect">
            <a:avLst>
              <a:gd name="adj" fmla="val 11765"/>
            </a:avLst>
          </a:prstGeom>
          <a:solidFill>
            <a:schemeClr val="tx2"/>
          </a:solidFill>
          <a:ln w="15875">
            <a:solidFill>
              <a:schemeClr val="accent1"/>
            </a:solidFill>
            <a:prstDash val="solid"/>
          </a:ln>
        </p:spPr>
      </p:sp>
      <p:sp>
        <p:nvSpPr>
          <p:cNvPr id="14" name="label Span gate"/>
          <p:cNvSpPr txBox="1"/>
          <p:nvPr/>
        </p:nvSpPr>
        <p:spPr>
          <a:xfrm>
            <a:off x="6316675" y="1600200"/>
            <a:ext cx="1453896" cy="777240"/>
          </a:xfrm>
          <a:prstGeom prst="rect">
            <a:avLst/>
          </a:prstGeom>
          <a:noFill/>
          <a:ln/>
        </p:spPr>
        <p:txBody>
          <a:bodyPr wrap="square" lIns="0" tIns="0" rIns="0" bIns="0" rtlCol="0" anchor="ctr"/>
          <a:lstStyle/>
          <a:p>
            <a:pPr algn="ctr" indent="0" marL="0">
              <a:buNone/>
            </a:pPr>
            <a:r>
              <a:rPr lang="en-US" sz="1300" b="1" dirty="0">
                <a:solidFill>
                  <a:schemeClr val="bg2"/>
                </a:solidFill>
              </a:rPr>
              <a:t>Span gate</a:t>
            </a:r>
            <a:endParaRPr lang="en-US" sz="1300" dirty="0"/>
          </a:p>
          <a:p>
            <a:pPr algn="ctr" indent="0" marL="0">
              <a:buNone/>
            </a:pPr>
            <a:r>
              <a:rPr lang="en-US" sz="1050" dirty="0">
                <a:solidFill>
                  <a:schemeClr val="accent2"/>
                </a:solidFill>
              </a:rPr>
              <a:t>Quote must exist</a:t>
            </a:r>
            <a:endParaRPr lang="en-US" sz="1300" dirty="0"/>
          </a:p>
        </p:txBody>
      </p:sp>
      <p:sp>
        <p:nvSpPr>
          <p:cNvPr id="15" name="phase 1 arrow 4"/>
          <p:cNvSpPr/>
          <p:nvPr/>
        </p:nvSpPr>
        <p:spPr>
          <a:xfrm>
            <a:off x="7880299" y="1988820"/>
            <a:ext cx="224942" cy="914"/>
          </a:xfrm>
          <a:prstGeom prst="line">
            <a:avLst/>
          </a:prstGeom>
          <a:noFill/>
          <a:ln w="22225">
            <a:solidFill>
              <a:srgbClr val="FDBA74"/>
            </a:solidFill>
            <a:prstDash val="solid"/>
            <a:tailEnd type="triangle"/>
          </a:ln>
        </p:spPr>
      </p:sp>
      <p:sp>
        <p:nvSpPr>
          <p:cNvPr id="16" name="step Fact ledger"/>
          <p:cNvSpPr/>
          <p:nvPr/>
        </p:nvSpPr>
        <p:spPr>
          <a:xfrm>
            <a:off x="8141818" y="1600200"/>
            <a:ext cx="1600200" cy="777240"/>
          </a:xfrm>
          <a:prstGeom prst="roundRect">
            <a:avLst>
              <a:gd name="adj" fmla="val 11765"/>
            </a:avLst>
          </a:prstGeom>
          <a:solidFill>
            <a:schemeClr val="accent5"/>
          </a:solidFill>
          <a:ln w="15875">
            <a:solidFill>
              <a:schemeClr val="accent5"/>
            </a:solidFill>
            <a:prstDash val="solid"/>
          </a:ln>
        </p:spPr>
      </p:sp>
      <p:sp>
        <p:nvSpPr>
          <p:cNvPr id="17" name="label Fact ledger"/>
          <p:cNvSpPr txBox="1"/>
          <p:nvPr/>
        </p:nvSpPr>
        <p:spPr>
          <a:xfrm>
            <a:off x="8214970" y="1600200"/>
            <a:ext cx="1453896" cy="777240"/>
          </a:xfrm>
          <a:prstGeom prst="rect">
            <a:avLst/>
          </a:prstGeom>
          <a:noFill/>
          <a:ln/>
        </p:spPr>
        <p:txBody>
          <a:bodyPr wrap="square" lIns="0" tIns="0" rIns="0" bIns="0" rtlCol="0" anchor="ctr"/>
          <a:lstStyle/>
          <a:p>
            <a:pPr algn="ctr" indent="0" marL="0">
              <a:buNone/>
            </a:pPr>
            <a:r>
              <a:rPr lang="en-US" sz="1300" b="1" dirty="0">
                <a:solidFill>
                  <a:schemeClr val="bg2"/>
                </a:solidFill>
              </a:rPr>
              <a:t>Fact ledger</a:t>
            </a:r>
            <a:endParaRPr lang="en-US" sz="1300" dirty="0"/>
          </a:p>
          <a:p>
            <a:pPr algn="ctr" indent="0" marL="0">
              <a:buNone/>
            </a:pPr>
            <a:r>
              <a:rPr lang="en-US" sz="1050" dirty="0">
                <a:solidFill>
                  <a:schemeClr val="accent4"/>
                </a:solidFill>
              </a:rPr>
              <a:t>PostgreSQL</a:t>
            </a:r>
            <a:endParaRPr lang="en-US" sz="1300" dirty="0"/>
          </a:p>
        </p:txBody>
      </p:sp>
      <p:sp>
        <p:nvSpPr>
          <p:cNvPr id="18" name="phase 1 arrow 5"/>
          <p:cNvSpPr/>
          <p:nvPr/>
        </p:nvSpPr>
        <p:spPr>
          <a:xfrm>
            <a:off x="9778594" y="1988820"/>
            <a:ext cx="224942" cy="914"/>
          </a:xfrm>
          <a:prstGeom prst="line">
            <a:avLst/>
          </a:prstGeom>
          <a:noFill/>
          <a:ln w="22225">
            <a:solidFill>
              <a:srgbClr val="FDBA74"/>
            </a:solidFill>
            <a:prstDash val="solid"/>
            <a:tailEnd type="triangle"/>
          </a:ln>
        </p:spPr>
      </p:sp>
      <p:sp>
        <p:nvSpPr>
          <p:cNvPr id="19" name="step You verify"/>
          <p:cNvSpPr/>
          <p:nvPr/>
        </p:nvSpPr>
        <p:spPr>
          <a:xfrm>
            <a:off x="10040112" y="1600200"/>
            <a:ext cx="1600200" cy="777240"/>
          </a:xfrm>
          <a:prstGeom prst="roundRect">
            <a:avLst>
              <a:gd name="adj" fmla="val 11765"/>
            </a:avLst>
          </a:prstGeom>
          <a:solidFill>
            <a:schemeClr val="accent2"/>
          </a:solidFill>
          <a:ln w="15875">
            <a:solidFill>
              <a:schemeClr val="accent2"/>
            </a:solidFill>
            <a:prstDash val="solid"/>
          </a:ln>
        </p:spPr>
      </p:sp>
      <p:sp>
        <p:nvSpPr>
          <p:cNvPr id="20" name="label You verify"/>
          <p:cNvSpPr txBox="1"/>
          <p:nvPr/>
        </p:nvSpPr>
        <p:spPr>
          <a:xfrm>
            <a:off x="10113264" y="1600200"/>
            <a:ext cx="1453896" cy="777240"/>
          </a:xfrm>
          <a:prstGeom prst="rect">
            <a:avLst/>
          </a:prstGeom>
          <a:noFill/>
          <a:ln/>
        </p:spPr>
        <p:txBody>
          <a:bodyPr wrap="square" lIns="0" tIns="0" rIns="0" bIns="0" rtlCol="0" anchor="ctr"/>
          <a:lstStyle/>
          <a:p>
            <a:pPr algn="ctr" indent="0" marL="0">
              <a:buNone/>
            </a:pPr>
            <a:r>
              <a:rPr lang="en-US" sz="1300" b="1" dirty="0">
                <a:solidFill>
                  <a:schemeClr val="tx1"/>
                </a:solidFill>
              </a:rPr>
              <a:t>You verify</a:t>
            </a:r>
            <a:endParaRPr lang="en-US" sz="1300" dirty="0"/>
          </a:p>
          <a:p>
            <a:pPr algn="ctr" indent="0" marL="0">
              <a:buNone/>
            </a:pPr>
            <a:r>
              <a:rPr lang="en-US" sz="1050" dirty="0">
                <a:solidFill>
                  <a:schemeClr val="accent5"/>
                </a:solidFill>
              </a:rPr>
              <a:t>Confirm or reject</a:t>
            </a:r>
            <a:endParaRPr lang="en-US" sz="1300" dirty="0"/>
          </a:p>
        </p:txBody>
      </p:sp>
      <p:sp>
        <p:nvSpPr>
          <p:cNvPr id="21" name="Text 19"/>
          <p:cNvSpPr txBox="1"/>
          <p:nvPr/>
        </p:nvSpPr>
        <p:spPr>
          <a:xfrm>
            <a:off x="548640" y="2852928"/>
            <a:ext cx="5486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PHASE 2  ·  EVERY JOB</a:t>
            </a:r>
            <a:endParaRPr lang="en-US" sz="1200" dirty="0"/>
          </a:p>
        </p:txBody>
      </p:sp>
      <p:sp>
        <p:nvSpPr>
          <p:cNvPr id="22" name="step Paste a job"/>
          <p:cNvSpPr/>
          <p:nvPr/>
        </p:nvSpPr>
        <p:spPr>
          <a:xfrm>
            <a:off x="548640" y="3200400"/>
            <a:ext cx="2377440" cy="777240"/>
          </a:xfrm>
          <a:prstGeom prst="roundRect">
            <a:avLst>
              <a:gd name="adj" fmla="val 11765"/>
            </a:avLst>
          </a:prstGeom>
          <a:solidFill>
            <a:schemeClr val="accent2"/>
          </a:solidFill>
          <a:ln w="15875">
            <a:solidFill>
              <a:schemeClr val="accent2"/>
            </a:solidFill>
            <a:prstDash val="solid"/>
          </a:ln>
        </p:spPr>
      </p:sp>
      <p:sp>
        <p:nvSpPr>
          <p:cNvPr id="23" name="label Paste a job"/>
          <p:cNvSpPr txBox="1"/>
          <p:nvPr/>
        </p:nvSpPr>
        <p:spPr>
          <a:xfrm>
            <a:off x="621792" y="3200400"/>
            <a:ext cx="2231136" cy="777240"/>
          </a:xfrm>
          <a:prstGeom prst="rect">
            <a:avLst/>
          </a:prstGeom>
          <a:noFill/>
          <a:ln/>
        </p:spPr>
        <p:txBody>
          <a:bodyPr wrap="square" lIns="0" tIns="0" rIns="0" bIns="0" rtlCol="0" anchor="ctr"/>
          <a:lstStyle/>
          <a:p>
            <a:pPr algn="ctr" indent="0" marL="0">
              <a:buNone/>
            </a:pPr>
            <a:r>
              <a:rPr lang="en-US" sz="1300" b="1" dirty="0">
                <a:solidFill>
                  <a:schemeClr val="tx1"/>
                </a:solidFill>
              </a:rPr>
              <a:t>Paste a job</a:t>
            </a:r>
            <a:endParaRPr lang="en-US" sz="1300" dirty="0"/>
          </a:p>
          <a:p>
            <a:pPr algn="ctr" indent="0" marL="0">
              <a:buNone/>
            </a:pPr>
            <a:r>
              <a:rPr lang="en-US" sz="1050" dirty="0">
                <a:solidFill>
                  <a:schemeClr val="accent5"/>
                </a:solidFill>
              </a:rPr>
              <a:t>Job description</a:t>
            </a:r>
            <a:endParaRPr lang="en-US" sz="1300" dirty="0"/>
          </a:p>
        </p:txBody>
      </p:sp>
      <p:sp>
        <p:nvSpPr>
          <p:cNvPr id="24" name="phase 2 arrow 1"/>
          <p:cNvSpPr/>
          <p:nvPr/>
        </p:nvSpPr>
        <p:spPr>
          <a:xfrm>
            <a:off x="2962656" y="3589020"/>
            <a:ext cx="454152" cy="914"/>
          </a:xfrm>
          <a:prstGeom prst="line">
            <a:avLst/>
          </a:prstGeom>
          <a:noFill/>
          <a:ln w="22225">
            <a:solidFill>
              <a:srgbClr val="FDBA74"/>
            </a:solidFill>
            <a:prstDash val="solid"/>
            <a:tailEnd type="triangle"/>
          </a:ln>
        </p:spPr>
      </p:sp>
      <p:sp>
        <p:nvSpPr>
          <p:cNvPr id="25" name="step JD Analyzer"/>
          <p:cNvSpPr/>
          <p:nvPr/>
        </p:nvSpPr>
        <p:spPr>
          <a:xfrm>
            <a:off x="3453384" y="3200400"/>
            <a:ext cx="2377440" cy="777240"/>
          </a:xfrm>
          <a:prstGeom prst="roundRect">
            <a:avLst>
              <a:gd name="adj" fmla="val 11765"/>
            </a:avLst>
          </a:prstGeom>
          <a:solidFill>
            <a:schemeClr val="accent1"/>
          </a:solidFill>
          <a:ln w="15875">
            <a:solidFill>
              <a:schemeClr val="accent1"/>
            </a:solidFill>
            <a:prstDash val="solid"/>
          </a:ln>
        </p:spPr>
      </p:sp>
      <p:sp>
        <p:nvSpPr>
          <p:cNvPr id="26" name="label JD Analyzer"/>
          <p:cNvSpPr txBox="1"/>
          <p:nvPr/>
        </p:nvSpPr>
        <p:spPr>
          <a:xfrm>
            <a:off x="3526536" y="3200400"/>
            <a:ext cx="2231136" cy="777240"/>
          </a:xfrm>
          <a:prstGeom prst="rect">
            <a:avLst/>
          </a:prstGeom>
          <a:noFill/>
          <a:ln/>
        </p:spPr>
        <p:txBody>
          <a:bodyPr wrap="square" lIns="0" tIns="0" rIns="0" bIns="0" rtlCol="0" anchor="ctr"/>
          <a:lstStyle/>
          <a:p>
            <a:pPr algn="ctr" indent="0" marL="0">
              <a:buNone/>
            </a:pPr>
            <a:r>
              <a:rPr lang="en-US" sz="1300" b="1" dirty="0">
                <a:solidFill>
                  <a:schemeClr val="tx1"/>
                </a:solidFill>
              </a:rPr>
              <a:t>JD Analyzer</a:t>
            </a:r>
            <a:endParaRPr lang="en-US" sz="1300" dirty="0"/>
          </a:p>
          <a:p>
            <a:pPr algn="ctr" indent="0" marL="0">
              <a:buNone/>
            </a:pPr>
            <a:r>
              <a:rPr lang="en-US" sz="1050" dirty="0">
                <a:solidFill>
                  <a:schemeClr val="tx1"/>
                </a:solidFill>
              </a:rPr>
              <a:t>CrewAI + Gemini</a:t>
            </a:r>
            <a:endParaRPr lang="en-US" sz="1300" dirty="0"/>
          </a:p>
        </p:txBody>
      </p:sp>
      <p:sp>
        <p:nvSpPr>
          <p:cNvPr id="27" name="phase 2 arrow 2"/>
          <p:cNvSpPr/>
          <p:nvPr/>
        </p:nvSpPr>
        <p:spPr>
          <a:xfrm>
            <a:off x="5867400" y="3589020"/>
            <a:ext cx="454152" cy="914"/>
          </a:xfrm>
          <a:prstGeom prst="line">
            <a:avLst/>
          </a:prstGeom>
          <a:noFill/>
          <a:ln w="22225">
            <a:solidFill>
              <a:srgbClr val="FDBA74"/>
            </a:solidFill>
            <a:prstDash val="solid"/>
            <a:tailEnd type="triangle"/>
          </a:ln>
        </p:spPr>
      </p:sp>
      <p:sp>
        <p:nvSpPr>
          <p:cNvPr id="28" name="step Matcher"/>
          <p:cNvSpPr/>
          <p:nvPr/>
        </p:nvSpPr>
        <p:spPr>
          <a:xfrm>
            <a:off x="6358128" y="3200400"/>
            <a:ext cx="2377440" cy="777240"/>
          </a:xfrm>
          <a:prstGeom prst="roundRect">
            <a:avLst>
              <a:gd name="adj" fmla="val 11765"/>
            </a:avLst>
          </a:prstGeom>
          <a:solidFill>
            <a:schemeClr val="accent1"/>
          </a:solidFill>
          <a:ln w="15875">
            <a:solidFill>
              <a:schemeClr val="accent1"/>
            </a:solidFill>
            <a:prstDash val="solid"/>
          </a:ln>
        </p:spPr>
      </p:sp>
      <p:sp>
        <p:nvSpPr>
          <p:cNvPr id="29" name="label Matcher"/>
          <p:cNvSpPr txBox="1"/>
          <p:nvPr/>
        </p:nvSpPr>
        <p:spPr>
          <a:xfrm>
            <a:off x="6431280" y="3200400"/>
            <a:ext cx="2231136" cy="777240"/>
          </a:xfrm>
          <a:prstGeom prst="rect">
            <a:avLst/>
          </a:prstGeom>
          <a:noFill/>
          <a:ln/>
        </p:spPr>
        <p:txBody>
          <a:bodyPr wrap="square" lIns="0" tIns="0" rIns="0" bIns="0" rtlCol="0" anchor="ctr"/>
          <a:lstStyle/>
          <a:p>
            <a:pPr algn="ctr" indent="0" marL="0">
              <a:buNone/>
            </a:pPr>
            <a:r>
              <a:rPr lang="en-US" sz="1300" b="1" dirty="0">
                <a:solidFill>
                  <a:schemeClr val="tx1"/>
                </a:solidFill>
              </a:rPr>
              <a:t>Matcher</a:t>
            </a:r>
            <a:endParaRPr lang="en-US" sz="1300" dirty="0"/>
          </a:p>
          <a:p>
            <a:pPr algn="ctr" indent="0" marL="0">
              <a:buNone/>
            </a:pPr>
            <a:r>
              <a:rPr lang="en-US" sz="1050" dirty="0">
                <a:solidFill>
                  <a:schemeClr val="tx1"/>
                </a:solidFill>
              </a:rPr>
              <a:t>Exact, fuzzy, meaning</a:t>
            </a:r>
            <a:endParaRPr lang="en-US" sz="1300" dirty="0"/>
          </a:p>
        </p:txBody>
      </p:sp>
      <p:sp>
        <p:nvSpPr>
          <p:cNvPr id="30" name="phase 2 arrow 3"/>
          <p:cNvSpPr/>
          <p:nvPr/>
        </p:nvSpPr>
        <p:spPr>
          <a:xfrm>
            <a:off x="8772144" y="3589020"/>
            <a:ext cx="454152" cy="914"/>
          </a:xfrm>
          <a:prstGeom prst="line">
            <a:avLst/>
          </a:prstGeom>
          <a:noFill/>
          <a:ln w="22225">
            <a:solidFill>
              <a:srgbClr val="FDBA74"/>
            </a:solidFill>
            <a:prstDash val="solid"/>
            <a:tailEnd type="triangle"/>
          </a:ln>
        </p:spPr>
      </p:sp>
      <p:sp>
        <p:nvSpPr>
          <p:cNvPr id="31" name="step Project Selector"/>
          <p:cNvSpPr/>
          <p:nvPr/>
        </p:nvSpPr>
        <p:spPr>
          <a:xfrm>
            <a:off x="9262872" y="3200400"/>
            <a:ext cx="2377440" cy="777240"/>
          </a:xfrm>
          <a:prstGeom prst="roundRect">
            <a:avLst>
              <a:gd name="adj" fmla="val 11765"/>
            </a:avLst>
          </a:prstGeom>
          <a:solidFill>
            <a:schemeClr val="tx2"/>
          </a:solidFill>
          <a:ln w="15875">
            <a:solidFill>
              <a:schemeClr val="accent1"/>
            </a:solidFill>
            <a:prstDash val="solid"/>
          </a:ln>
        </p:spPr>
      </p:sp>
      <p:sp>
        <p:nvSpPr>
          <p:cNvPr id="32" name="label Project Selector"/>
          <p:cNvSpPr txBox="1"/>
          <p:nvPr/>
        </p:nvSpPr>
        <p:spPr>
          <a:xfrm>
            <a:off x="9336024" y="3200400"/>
            <a:ext cx="2231136" cy="777240"/>
          </a:xfrm>
          <a:prstGeom prst="rect">
            <a:avLst/>
          </a:prstGeom>
          <a:noFill/>
          <a:ln/>
        </p:spPr>
        <p:txBody>
          <a:bodyPr wrap="square" lIns="0" tIns="0" rIns="0" bIns="0" rtlCol="0" anchor="ctr"/>
          <a:lstStyle/>
          <a:p>
            <a:pPr algn="ctr" indent="0" marL="0">
              <a:buNone/>
            </a:pPr>
            <a:r>
              <a:rPr lang="en-US" sz="1300" b="1" dirty="0">
                <a:solidFill>
                  <a:schemeClr val="bg2"/>
                </a:solidFill>
              </a:rPr>
              <a:t>Project Selector</a:t>
            </a:r>
            <a:endParaRPr lang="en-US" sz="1300" dirty="0"/>
          </a:p>
          <a:p>
            <a:pPr algn="ctr" indent="0" marL="0">
              <a:buNone/>
            </a:pPr>
            <a:r>
              <a:rPr lang="en-US" sz="1050" dirty="0">
                <a:solidFill>
                  <a:schemeClr val="accent2"/>
                </a:solidFill>
              </a:rPr>
              <a:t>Python, task relevance</a:t>
            </a:r>
            <a:endParaRPr lang="en-US" sz="1300" dirty="0"/>
          </a:p>
        </p:txBody>
      </p:sp>
      <p:sp>
        <p:nvSpPr>
          <p:cNvPr id="33" name="ledger down"/>
          <p:cNvSpPr/>
          <p:nvPr/>
        </p:nvSpPr>
        <p:spPr>
          <a:xfrm>
            <a:off x="8941918" y="2414016"/>
            <a:ext cx="914" cy="329184"/>
          </a:xfrm>
          <a:prstGeom prst="line">
            <a:avLst/>
          </a:prstGeom>
          <a:noFill/>
          <a:ln w="22225">
            <a:solidFill>
              <a:srgbClr val="FDBA74"/>
            </a:solidFill>
            <a:prstDash val="dash"/>
          </a:ln>
        </p:spPr>
      </p:sp>
      <p:sp>
        <p:nvSpPr>
          <p:cNvPr id="34" name="ledger across"/>
          <p:cNvSpPr/>
          <p:nvPr/>
        </p:nvSpPr>
        <p:spPr>
          <a:xfrm flipH="1">
            <a:off x="7546848" y="2743200"/>
            <a:ext cx="1395070" cy="914"/>
          </a:xfrm>
          <a:prstGeom prst="line">
            <a:avLst/>
          </a:prstGeom>
          <a:noFill/>
          <a:ln w="22225">
            <a:solidFill>
              <a:srgbClr val="FDBA74"/>
            </a:solidFill>
            <a:prstDash val="dash"/>
          </a:ln>
        </p:spPr>
      </p:sp>
      <p:sp>
        <p:nvSpPr>
          <p:cNvPr id="35" name="ledger into matcher"/>
          <p:cNvSpPr/>
          <p:nvPr/>
        </p:nvSpPr>
        <p:spPr>
          <a:xfrm>
            <a:off x="7546848" y="2743200"/>
            <a:ext cx="914" cy="420624"/>
          </a:xfrm>
          <a:prstGeom prst="line">
            <a:avLst/>
          </a:prstGeom>
          <a:noFill/>
          <a:ln w="22225">
            <a:solidFill>
              <a:srgbClr val="FDBA74"/>
            </a:solidFill>
            <a:prstDash val="dash"/>
            <a:tailEnd type="triangle"/>
          </a:ln>
        </p:spPr>
      </p:sp>
      <p:sp>
        <p:nvSpPr>
          <p:cNvPr id="36" name="Text 34"/>
          <p:cNvSpPr txBox="1"/>
          <p:nvPr/>
        </p:nvSpPr>
        <p:spPr>
          <a:xfrm>
            <a:off x="7638288" y="2468880"/>
            <a:ext cx="1371600" cy="237744"/>
          </a:xfrm>
          <a:prstGeom prst="rect">
            <a:avLst/>
          </a:prstGeom>
          <a:noFill/>
          <a:ln/>
        </p:spPr>
        <p:txBody>
          <a:bodyPr wrap="square" lIns="0" tIns="0" rIns="0" bIns="0" rtlCol="0" anchor="ctr"/>
          <a:lstStyle/>
          <a:p>
            <a:pPr indent="0" marL="0">
              <a:buNone/>
            </a:pPr>
            <a:r>
              <a:rPr lang="en-US" sz="1000" i="1" dirty="0">
                <a:solidFill>
                  <a:schemeClr val="accent6"/>
                </a:solidFill>
              </a:rPr>
              <a:t>verified facts</a:t>
            </a:r>
            <a:endParaRPr lang="en-US" sz="1000" dirty="0"/>
          </a:p>
        </p:txBody>
      </p:sp>
      <p:sp>
        <p:nvSpPr>
          <p:cNvPr id="37" name="step Resume Writer"/>
          <p:cNvSpPr/>
          <p:nvPr/>
        </p:nvSpPr>
        <p:spPr>
          <a:xfrm>
            <a:off x="548640" y="4754880"/>
            <a:ext cx="2011680" cy="777240"/>
          </a:xfrm>
          <a:prstGeom prst="roundRect">
            <a:avLst>
              <a:gd name="adj" fmla="val 11765"/>
            </a:avLst>
          </a:prstGeom>
          <a:solidFill>
            <a:schemeClr val="accent3"/>
          </a:solidFill>
          <a:ln w="15875">
            <a:solidFill>
              <a:schemeClr val="accent3"/>
            </a:solidFill>
            <a:prstDash val="solid"/>
          </a:ln>
        </p:spPr>
      </p:sp>
      <p:sp>
        <p:nvSpPr>
          <p:cNvPr id="38" name="label Resume Writer"/>
          <p:cNvSpPr txBox="1"/>
          <p:nvPr/>
        </p:nvSpPr>
        <p:spPr>
          <a:xfrm>
            <a:off x="621792" y="4754880"/>
            <a:ext cx="1865376" cy="777240"/>
          </a:xfrm>
          <a:prstGeom prst="rect">
            <a:avLst/>
          </a:prstGeom>
          <a:noFill/>
          <a:ln/>
        </p:spPr>
        <p:txBody>
          <a:bodyPr wrap="square" lIns="0" tIns="0" rIns="0" bIns="0" rtlCol="0" anchor="ctr"/>
          <a:lstStyle/>
          <a:p>
            <a:pPr algn="ctr" indent="0" marL="0">
              <a:buNone/>
            </a:pPr>
            <a:r>
              <a:rPr lang="en-US" sz="1300" b="1" dirty="0">
                <a:solidFill>
                  <a:schemeClr val="bg1"/>
                </a:solidFill>
              </a:rPr>
              <a:t>Resume Writer</a:t>
            </a:r>
            <a:endParaRPr lang="en-US" sz="1300" dirty="0"/>
          </a:p>
          <a:p>
            <a:pPr algn="ctr" indent="0" marL="0">
              <a:buNone/>
            </a:pPr>
            <a:r>
              <a:rPr lang="en-US" sz="1050" dirty="0">
                <a:solidFill>
                  <a:schemeClr val="accent4"/>
                </a:solidFill>
              </a:rPr>
              <a:t>Google ADK + Gemini</a:t>
            </a:r>
            <a:endParaRPr lang="en-US" sz="1300" dirty="0"/>
          </a:p>
        </p:txBody>
      </p:sp>
      <p:sp>
        <p:nvSpPr>
          <p:cNvPr id="39" name="writer verifier loop"/>
          <p:cNvSpPr/>
          <p:nvPr/>
        </p:nvSpPr>
        <p:spPr>
          <a:xfrm>
            <a:off x="2596896" y="5143500"/>
            <a:ext cx="185166" cy="914"/>
          </a:xfrm>
          <a:prstGeom prst="line">
            <a:avLst/>
          </a:prstGeom>
          <a:noFill/>
          <a:ln w="22225">
            <a:solidFill>
              <a:srgbClr val="FDBA74"/>
            </a:solidFill>
            <a:prstDash val="solid"/>
            <a:headEnd type="triangle"/>
            <a:tailEnd type="triangle"/>
          </a:ln>
        </p:spPr>
      </p:sp>
      <p:sp>
        <p:nvSpPr>
          <p:cNvPr id="40" name="step Verifier"/>
          <p:cNvSpPr/>
          <p:nvPr/>
        </p:nvSpPr>
        <p:spPr>
          <a:xfrm>
            <a:off x="2818638" y="4754880"/>
            <a:ext cx="2011680" cy="777240"/>
          </a:xfrm>
          <a:prstGeom prst="roundRect">
            <a:avLst>
              <a:gd name="adj" fmla="val 11765"/>
            </a:avLst>
          </a:prstGeom>
          <a:solidFill>
            <a:schemeClr val="accent3"/>
          </a:solidFill>
          <a:ln w="15875">
            <a:solidFill>
              <a:schemeClr val="accent3"/>
            </a:solidFill>
            <a:prstDash val="solid"/>
          </a:ln>
        </p:spPr>
      </p:sp>
      <p:sp>
        <p:nvSpPr>
          <p:cNvPr id="41" name="label Verifier"/>
          <p:cNvSpPr txBox="1"/>
          <p:nvPr/>
        </p:nvSpPr>
        <p:spPr>
          <a:xfrm>
            <a:off x="2891790" y="4754880"/>
            <a:ext cx="1865376" cy="777240"/>
          </a:xfrm>
          <a:prstGeom prst="rect">
            <a:avLst/>
          </a:prstGeom>
          <a:noFill/>
          <a:ln/>
        </p:spPr>
        <p:txBody>
          <a:bodyPr wrap="square" lIns="0" tIns="0" rIns="0" bIns="0" rtlCol="0" anchor="ctr"/>
          <a:lstStyle/>
          <a:p>
            <a:pPr algn="ctr" indent="0" marL="0">
              <a:buNone/>
            </a:pPr>
            <a:r>
              <a:rPr lang="en-US" sz="1300" b="1" dirty="0">
                <a:solidFill>
                  <a:schemeClr val="bg1"/>
                </a:solidFill>
              </a:rPr>
              <a:t>Verifier</a:t>
            </a:r>
            <a:endParaRPr lang="en-US" sz="1300" dirty="0"/>
          </a:p>
          <a:p>
            <a:pPr algn="ctr" indent="0" marL="0">
              <a:buNone/>
            </a:pPr>
            <a:r>
              <a:rPr lang="en-US" sz="1050" dirty="0">
                <a:solidFill>
                  <a:schemeClr val="accent4"/>
                </a:solidFill>
              </a:rPr>
              <a:t>ADK callback + checks</a:t>
            </a:r>
            <a:endParaRPr lang="en-US" sz="1300" dirty="0"/>
          </a:p>
        </p:txBody>
      </p:sp>
      <p:sp>
        <p:nvSpPr>
          <p:cNvPr id="42" name="phase 2b arrow 1"/>
          <p:cNvSpPr/>
          <p:nvPr/>
        </p:nvSpPr>
        <p:spPr>
          <a:xfrm>
            <a:off x="4866894" y="5143500"/>
            <a:ext cx="185166" cy="914"/>
          </a:xfrm>
          <a:prstGeom prst="line">
            <a:avLst/>
          </a:prstGeom>
          <a:noFill/>
          <a:ln w="22225">
            <a:solidFill>
              <a:srgbClr val="FDBA74"/>
            </a:solidFill>
            <a:prstDash val="solid"/>
            <a:tailEnd type="triangle"/>
          </a:ln>
        </p:spPr>
      </p:sp>
      <p:sp>
        <p:nvSpPr>
          <p:cNvPr id="43" name="step Keyword Coach"/>
          <p:cNvSpPr/>
          <p:nvPr/>
        </p:nvSpPr>
        <p:spPr>
          <a:xfrm>
            <a:off x="5088636" y="4754880"/>
            <a:ext cx="2011680" cy="777240"/>
          </a:xfrm>
          <a:prstGeom prst="roundRect">
            <a:avLst>
              <a:gd name="adj" fmla="val 11765"/>
            </a:avLst>
          </a:prstGeom>
          <a:solidFill>
            <a:schemeClr val="tx2"/>
          </a:solidFill>
          <a:ln w="15875">
            <a:solidFill>
              <a:schemeClr val="accent1"/>
            </a:solidFill>
            <a:prstDash val="solid"/>
          </a:ln>
        </p:spPr>
      </p:sp>
      <p:sp>
        <p:nvSpPr>
          <p:cNvPr id="44" name="label Keyword Coach"/>
          <p:cNvSpPr txBox="1"/>
          <p:nvPr/>
        </p:nvSpPr>
        <p:spPr>
          <a:xfrm>
            <a:off x="5161788" y="4754880"/>
            <a:ext cx="1865376" cy="777240"/>
          </a:xfrm>
          <a:prstGeom prst="rect">
            <a:avLst/>
          </a:prstGeom>
          <a:noFill/>
          <a:ln/>
        </p:spPr>
        <p:txBody>
          <a:bodyPr wrap="square" lIns="0" tIns="0" rIns="0" bIns="0" rtlCol="0" anchor="ctr"/>
          <a:lstStyle/>
          <a:p>
            <a:pPr algn="ctr" indent="0" marL="0">
              <a:buNone/>
            </a:pPr>
            <a:r>
              <a:rPr lang="en-US" sz="1300" b="1" dirty="0">
                <a:solidFill>
                  <a:schemeClr val="bg2"/>
                </a:solidFill>
              </a:rPr>
              <a:t>Keyword Coach</a:t>
            </a:r>
            <a:endParaRPr lang="en-US" sz="1300" dirty="0"/>
          </a:p>
          <a:p>
            <a:pPr algn="ctr" indent="0" marL="0">
              <a:buNone/>
            </a:pPr>
            <a:r>
              <a:rPr lang="en-US" sz="1050" dirty="0">
                <a:solidFill>
                  <a:schemeClr val="accent2"/>
                </a:solidFill>
              </a:rPr>
              <a:t>Python, honest gaps</a:t>
            </a:r>
            <a:endParaRPr lang="en-US" sz="1300" dirty="0"/>
          </a:p>
        </p:txBody>
      </p:sp>
      <p:sp>
        <p:nvSpPr>
          <p:cNvPr id="45" name="phase 2b arrow 2"/>
          <p:cNvSpPr/>
          <p:nvPr/>
        </p:nvSpPr>
        <p:spPr>
          <a:xfrm>
            <a:off x="7136892" y="5143500"/>
            <a:ext cx="185166" cy="914"/>
          </a:xfrm>
          <a:prstGeom prst="line">
            <a:avLst/>
          </a:prstGeom>
          <a:noFill/>
          <a:ln w="22225">
            <a:solidFill>
              <a:srgbClr val="FDBA74"/>
            </a:solidFill>
            <a:prstDash val="solid"/>
            <a:tailEnd type="triangle"/>
          </a:ln>
        </p:spPr>
      </p:sp>
      <p:sp>
        <p:nvSpPr>
          <p:cNvPr id="46" name="step Scoring Engine"/>
          <p:cNvSpPr/>
          <p:nvPr/>
        </p:nvSpPr>
        <p:spPr>
          <a:xfrm>
            <a:off x="7358634" y="4754880"/>
            <a:ext cx="2011680" cy="777240"/>
          </a:xfrm>
          <a:prstGeom prst="roundRect">
            <a:avLst>
              <a:gd name="adj" fmla="val 11765"/>
            </a:avLst>
          </a:prstGeom>
          <a:solidFill>
            <a:schemeClr val="tx2"/>
          </a:solidFill>
          <a:ln w="15875">
            <a:solidFill>
              <a:schemeClr val="accent1"/>
            </a:solidFill>
            <a:prstDash val="solid"/>
          </a:ln>
        </p:spPr>
      </p:sp>
      <p:sp>
        <p:nvSpPr>
          <p:cNvPr id="47" name="label Scoring Engine"/>
          <p:cNvSpPr txBox="1"/>
          <p:nvPr/>
        </p:nvSpPr>
        <p:spPr>
          <a:xfrm>
            <a:off x="7431786" y="4754880"/>
            <a:ext cx="1865376" cy="777240"/>
          </a:xfrm>
          <a:prstGeom prst="rect">
            <a:avLst/>
          </a:prstGeom>
          <a:noFill/>
          <a:ln/>
        </p:spPr>
        <p:txBody>
          <a:bodyPr wrap="square" lIns="0" tIns="0" rIns="0" bIns="0" rtlCol="0" anchor="ctr"/>
          <a:lstStyle/>
          <a:p>
            <a:pPr algn="ctr" indent="0" marL="0">
              <a:buNone/>
            </a:pPr>
            <a:r>
              <a:rPr lang="en-US" sz="1300" b="1" dirty="0">
                <a:solidFill>
                  <a:schemeClr val="bg2"/>
                </a:solidFill>
              </a:rPr>
              <a:t>Scoring Engine</a:t>
            </a:r>
            <a:endParaRPr lang="en-US" sz="1300" dirty="0"/>
          </a:p>
          <a:p>
            <a:pPr algn="ctr" indent="0" marL="0">
              <a:buNone/>
            </a:pPr>
            <a:r>
              <a:rPr lang="en-US" sz="1050" dirty="0">
                <a:solidFill>
                  <a:schemeClr val="accent2"/>
                </a:solidFill>
              </a:rPr>
              <a:t>Python, no AI</a:t>
            </a:r>
            <a:endParaRPr lang="en-US" sz="1300" dirty="0"/>
          </a:p>
        </p:txBody>
      </p:sp>
      <p:sp>
        <p:nvSpPr>
          <p:cNvPr id="48" name="phase 2b arrow 3"/>
          <p:cNvSpPr/>
          <p:nvPr/>
        </p:nvSpPr>
        <p:spPr>
          <a:xfrm>
            <a:off x="9406890" y="5143500"/>
            <a:ext cx="185166" cy="914"/>
          </a:xfrm>
          <a:prstGeom prst="line">
            <a:avLst/>
          </a:prstGeom>
          <a:noFill/>
          <a:ln w="22225">
            <a:solidFill>
              <a:srgbClr val="FDBA74"/>
            </a:solidFill>
            <a:prstDash val="solid"/>
            <a:tailEnd type="triangle"/>
          </a:ln>
        </p:spPr>
      </p:sp>
      <p:sp>
        <p:nvSpPr>
          <p:cNvPr id="49" name="step Export"/>
          <p:cNvSpPr/>
          <p:nvPr/>
        </p:nvSpPr>
        <p:spPr>
          <a:xfrm>
            <a:off x="9628632" y="4754880"/>
            <a:ext cx="2011680" cy="777240"/>
          </a:xfrm>
          <a:prstGeom prst="roundRect">
            <a:avLst>
              <a:gd name="adj" fmla="val 11765"/>
            </a:avLst>
          </a:prstGeom>
          <a:solidFill>
            <a:schemeClr val="accent5"/>
          </a:solidFill>
          <a:ln w="15875">
            <a:solidFill>
              <a:schemeClr val="accent5"/>
            </a:solidFill>
            <a:prstDash val="solid"/>
          </a:ln>
        </p:spPr>
      </p:sp>
      <p:sp>
        <p:nvSpPr>
          <p:cNvPr id="50" name="label Export"/>
          <p:cNvSpPr txBox="1"/>
          <p:nvPr/>
        </p:nvSpPr>
        <p:spPr>
          <a:xfrm>
            <a:off x="9701784" y="4754880"/>
            <a:ext cx="1865376" cy="777240"/>
          </a:xfrm>
          <a:prstGeom prst="rect">
            <a:avLst/>
          </a:prstGeom>
          <a:noFill/>
          <a:ln/>
        </p:spPr>
        <p:txBody>
          <a:bodyPr wrap="square" lIns="0" tIns="0" rIns="0" bIns="0" rtlCol="0" anchor="ctr"/>
          <a:lstStyle/>
          <a:p>
            <a:pPr algn="ctr" indent="0" marL="0">
              <a:buNone/>
            </a:pPr>
            <a:r>
              <a:rPr lang="en-US" sz="1300" b="1" dirty="0">
                <a:solidFill>
                  <a:schemeClr val="bg2"/>
                </a:solidFill>
              </a:rPr>
              <a:t>Export</a:t>
            </a:r>
            <a:endParaRPr lang="en-US" sz="1300" dirty="0"/>
          </a:p>
          <a:p>
            <a:pPr algn="ctr" indent="0" marL="0">
              <a:buNone/>
            </a:pPr>
            <a:r>
              <a:rPr lang="en-US" sz="1050" dirty="0">
                <a:solidFill>
                  <a:schemeClr val="accent4"/>
                </a:solidFill>
              </a:rPr>
              <a:t>PDF and DOCX</a:t>
            </a:r>
            <a:endParaRPr lang="en-US" sz="1300" dirty="0"/>
          </a:p>
        </p:txBody>
      </p:sp>
      <p:sp>
        <p:nvSpPr>
          <p:cNvPr id="51" name="Text 49"/>
          <p:cNvSpPr txBox="1"/>
          <p:nvPr/>
        </p:nvSpPr>
        <p:spPr>
          <a:xfrm>
            <a:off x="2240280" y="5568696"/>
            <a:ext cx="1280160" cy="237744"/>
          </a:xfrm>
          <a:prstGeom prst="rect">
            <a:avLst/>
          </a:prstGeom>
          <a:noFill/>
          <a:ln/>
        </p:spPr>
        <p:txBody>
          <a:bodyPr wrap="square" lIns="0" tIns="0" rIns="0" bIns="0" rtlCol="0" anchor="ctr"/>
          <a:lstStyle/>
          <a:p>
            <a:pPr algn="ctr" indent="0" marL="0">
              <a:buNone/>
            </a:pPr>
            <a:r>
              <a:rPr lang="en-US" sz="1000" i="1" dirty="0">
                <a:solidFill>
                  <a:schemeClr val="accent6"/>
                </a:solidFill>
              </a:rPr>
              <a:t>rejects go back</a:t>
            </a:r>
            <a:endParaRPr lang="en-US" sz="1000" dirty="0"/>
          </a:p>
        </p:txBody>
      </p:sp>
      <p:sp>
        <p:nvSpPr>
          <p:cNvPr id="52" name="selector down"/>
          <p:cNvSpPr/>
          <p:nvPr/>
        </p:nvSpPr>
        <p:spPr>
          <a:xfrm>
            <a:off x="10451592" y="4014216"/>
            <a:ext cx="914" cy="347472"/>
          </a:xfrm>
          <a:prstGeom prst="line">
            <a:avLst/>
          </a:prstGeom>
          <a:noFill/>
          <a:ln w="22225">
            <a:solidFill>
              <a:srgbClr val="FDBA74"/>
            </a:solidFill>
            <a:prstDash val="solid"/>
          </a:ln>
        </p:spPr>
      </p:sp>
      <p:sp>
        <p:nvSpPr>
          <p:cNvPr id="53" name="selector across"/>
          <p:cNvSpPr/>
          <p:nvPr/>
        </p:nvSpPr>
        <p:spPr>
          <a:xfrm flipH="1">
            <a:off x="1554480" y="4361688"/>
            <a:ext cx="8897112" cy="914"/>
          </a:xfrm>
          <a:prstGeom prst="line">
            <a:avLst/>
          </a:prstGeom>
          <a:noFill/>
          <a:ln w="22225">
            <a:solidFill>
              <a:srgbClr val="FDBA74"/>
            </a:solidFill>
            <a:prstDash val="solid"/>
          </a:ln>
        </p:spPr>
      </p:sp>
      <p:sp>
        <p:nvSpPr>
          <p:cNvPr id="54" name="into writer"/>
          <p:cNvSpPr/>
          <p:nvPr/>
        </p:nvSpPr>
        <p:spPr>
          <a:xfrm>
            <a:off x="1554480" y="4361688"/>
            <a:ext cx="914" cy="356616"/>
          </a:xfrm>
          <a:prstGeom prst="line">
            <a:avLst/>
          </a:prstGeom>
          <a:noFill/>
          <a:ln w="22225">
            <a:solidFill>
              <a:srgbClr val="FDBA74"/>
            </a:solidFill>
            <a:prstDash val="solid"/>
            <a:tailEnd type="triangle"/>
          </a:ln>
        </p:spPr>
      </p:sp>
      <p:sp>
        <p:nvSpPr>
          <p:cNvPr id="55" name="legend CrewAI agent"/>
          <p:cNvSpPr/>
          <p:nvPr/>
        </p:nvSpPr>
        <p:spPr>
          <a:xfrm>
            <a:off x="548640" y="5925312"/>
            <a:ext cx="256032" cy="256032"/>
          </a:xfrm>
          <a:prstGeom prst="roundRect">
            <a:avLst>
              <a:gd name="adj" fmla="val 17857"/>
            </a:avLst>
          </a:prstGeom>
          <a:solidFill>
            <a:schemeClr val="accent1"/>
          </a:solidFill>
          <a:ln w="9525">
            <a:solidFill>
              <a:schemeClr val="accent1"/>
            </a:solidFill>
            <a:prstDash val="solid"/>
          </a:ln>
        </p:spPr>
      </p:sp>
      <p:sp>
        <p:nvSpPr>
          <p:cNvPr id="56" name="Text 54"/>
          <p:cNvSpPr txBox="1"/>
          <p:nvPr/>
        </p:nvSpPr>
        <p:spPr>
          <a:xfrm>
            <a:off x="896112" y="5907024"/>
            <a:ext cx="1828800" cy="292608"/>
          </a:xfrm>
          <a:prstGeom prst="rect">
            <a:avLst/>
          </a:prstGeom>
          <a:noFill/>
          <a:ln/>
        </p:spPr>
        <p:txBody>
          <a:bodyPr wrap="square" lIns="0" tIns="0" rIns="0" bIns="0" rtlCol="0" anchor="ctr"/>
          <a:lstStyle/>
          <a:p>
            <a:pPr indent="0" marL="0">
              <a:buNone/>
            </a:pPr>
            <a:r>
              <a:rPr lang="en-US" sz="1200" dirty="0">
                <a:solidFill>
                  <a:schemeClr val="bg2"/>
                </a:solidFill>
              </a:rPr>
              <a:t>CrewAI agent</a:t>
            </a:r>
            <a:endParaRPr lang="en-US" sz="1200" dirty="0"/>
          </a:p>
        </p:txBody>
      </p:sp>
      <p:sp>
        <p:nvSpPr>
          <p:cNvPr id="57" name="legend Google ADK agent"/>
          <p:cNvSpPr/>
          <p:nvPr/>
        </p:nvSpPr>
        <p:spPr>
          <a:xfrm>
            <a:off x="2788920" y="5925312"/>
            <a:ext cx="256032" cy="256032"/>
          </a:xfrm>
          <a:prstGeom prst="roundRect">
            <a:avLst>
              <a:gd name="adj" fmla="val 17857"/>
            </a:avLst>
          </a:prstGeom>
          <a:solidFill>
            <a:schemeClr val="accent3"/>
          </a:solidFill>
          <a:ln w="9525">
            <a:solidFill>
              <a:schemeClr val="accent1"/>
            </a:solidFill>
            <a:prstDash val="solid"/>
          </a:ln>
        </p:spPr>
      </p:sp>
      <p:sp>
        <p:nvSpPr>
          <p:cNvPr id="58" name="Text 56"/>
          <p:cNvSpPr txBox="1"/>
          <p:nvPr/>
        </p:nvSpPr>
        <p:spPr>
          <a:xfrm>
            <a:off x="3136392" y="5907024"/>
            <a:ext cx="1828800" cy="292608"/>
          </a:xfrm>
          <a:prstGeom prst="rect">
            <a:avLst/>
          </a:prstGeom>
          <a:noFill/>
          <a:ln/>
        </p:spPr>
        <p:txBody>
          <a:bodyPr wrap="square" lIns="0" tIns="0" rIns="0" bIns="0" rtlCol="0" anchor="ctr"/>
          <a:lstStyle/>
          <a:p>
            <a:pPr indent="0" marL="0">
              <a:buNone/>
            </a:pPr>
            <a:r>
              <a:rPr lang="en-US" sz="1200" dirty="0">
                <a:solidFill>
                  <a:schemeClr val="bg2"/>
                </a:solidFill>
              </a:rPr>
              <a:t>Google ADK agent</a:t>
            </a:r>
            <a:endParaRPr lang="en-US" sz="1200" dirty="0"/>
          </a:p>
        </p:txBody>
      </p:sp>
      <p:sp>
        <p:nvSpPr>
          <p:cNvPr id="59" name="legend Plain Python, no AI"/>
          <p:cNvSpPr/>
          <p:nvPr/>
        </p:nvSpPr>
        <p:spPr>
          <a:xfrm>
            <a:off x="5029200" y="5925312"/>
            <a:ext cx="256032" cy="256032"/>
          </a:xfrm>
          <a:prstGeom prst="roundRect">
            <a:avLst>
              <a:gd name="adj" fmla="val 17857"/>
            </a:avLst>
          </a:prstGeom>
          <a:solidFill>
            <a:schemeClr val="tx2"/>
          </a:solidFill>
          <a:ln w="9525">
            <a:solidFill>
              <a:schemeClr val="accent1"/>
            </a:solidFill>
            <a:prstDash val="solid"/>
          </a:ln>
        </p:spPr>
      </p:sp>
      <p:sp>
        <p:nvSpPr>
          <p:cNvPr id="60" name="Text 58"/>
          <p:cNvSpPr txBox="1"/>
          <p:nvPr/>
        </p:nvSpPr>
        <p:spPr>
          <a:xfrm>
            <a:off x="5376672" y="5907024"/>
            <a:ext cx="1828800" cy="292608"/>
          </a:xfrm>
          <a:prstGeom prst="rect">
            <a:avLst/>
          </a:prstGeom>
          <a:noFill/>
          <a:ln/>
        </p:spPr>
        <p:txBody>
          <a:bodyPr wrap="square" lIns="0" tIns="0" rIns="0" bIns="0" rtlCol="0" anchor="ctr"/>
          <a:lstStyle/>
          <a:p>
            <a:pPr indent="0" marL="0">
              <a:buNone/>
            </a:pPr>
            <a:r>
              <a:rPr lang="en-US" sz="1200" dirty="0">
                <a:solidFill>
                  <a:schemeClr val="bg2"/>
                </a:solidFill>
              </a:rPr>
              <a:t>Plain Python, no AI</a:t>
            </a:r>
            <a:endParaRPr lang="en-US" sz="1200" dirty="0"/>
          </a:p>
        </p:txBody>
      </p:sp>
      <p:sp>
        <p:nvSpPr>
          <p:cNvPr id="61" name="legend You"/>
          <p:cNvSpPr/>
          <p:nvPr/>
        </p:nvSpPr>
        <p:spPr>
          <a:xfrm>
            <a:off x="7269480" y="5925312"/>
            <a:ext cx="256032" cy="256032"/>
          </a:xfrm>
          <a:prstGeom prst="roundRect">
            <a:avLst>
              <a:gd name="adj" fmla="val 17857"/>
            </a:avLst>
          </a:prstGeom>
          <a:solidFill>
            <a:schemeClr val="accent2"/>
          </a:solidFill>
          <a:ln w="9525">
            <a:solidFill>
              <a:schemeClr val="accent1"/>
            </a:solidFill>
            <a:prstDash val="solid"/>
          </a:ln>
        </p:spPr>
      </p:sp>
      <p:sp>
        <p:nvSpPr>
          <p:cNvPr id="62" name="Text 60"/>
          <p:cNvSpPr txBox="1"/>
          <p:nvPr/>
        </p:nvSpPr>
        <p:spPr>
          <a:xfrm>
            <a:off x="7616952" y="5907024"/>
            <a:ext cx="1828800" cy="292608"/>
          </a:xfrm>
          <a:prstGeom prst="rect">
            <a:avLst/>
          </a:prstGeom>
          <a:noFill/>
          <a:ln/>
        </p:spPr>
        <p:txBody>
          <a:bodyPr wrap="square" lIns="0" tIns="0" rIns="0" bIns="0" rtlCol="0" anchor="ctr"/>
          <a:lstStyle/>
          <a:p>
            <a:pPr indent="0" marL="0">
              <a:buNone/>
            </a:pPr>
            <a:r>
              <a:rPr lang="en-US" sz="1200" dirty="0">
                <a:solidFill>
                  <a:schemeClr val="bg2"/>
                </a:solidFill>
              </a:rPr>
              <a:t>You</a:t>
            </a:r>
            <a:endParaRPr lang="en-US" sz="1200" dirty="0"/>
          </a:p>
        </p:txBody>
      </p:sp>
      <p:sp>
        <p:nvSpPr>
          <p:cNvPr id="63" name="legend Data / output"/>
          <p:cNvSpPr/>
          <p:nvPr/>
        </p:nvSpPr>
        <p:spPr>
          <a:xfrm>
            <a:off x="9509760" y="5925312"/>
            <a:ext cx="256032" cy="256032"/>
          </a:xfrm>
          <a:prstGeom prst="roundRect">
            <a:avLst>
              <a:gd name="adj" fmla="val 17857"/>
            </a:avLst>
          </a:prstGeom>
          <a:solidFill>
            <a:schemeClr val="accent5"/>
          </a:solidFill>
          <a:ln w="9525">
            <a:solidFill>
              <a:schemeClr val="accent1"/>
            </a:solidFill>
            <a:prstDash val="solid"/>
          </a:ln>
        </p:spPr>
      </p:sp>
      <p:sp>
        <p:nvSpPr>
          <p:cNvPr id="64" name="Text 62"/>
          <p:cNvSpPr txBox="1"/>
          <p:nvPr/>
        </p:nvSpPr>
        <p:spPr>
          <a:xfrm>
            <a:off x="9857232" y="5907024"/>
            <a:ext cx="1828800" cy="292608"/>
          </a:xfrm>
          <a:prstGeom prst="rect">
            <a:avLst/>
          </a:prstGeom>
          <a:noFill/>
          <a:ln/>
        </p:spPr>
        <p:txBody>
          <a:bodyPr wrap="square" lIns="0" tIns="0" rIns="0" bIns="0" rtlCol="0" anchor="ctr"/>
          <a:lstStyle/>
          <a:p>
            <a:pPr indent="0" marL="0">
              <a:buNone/>
            </a:pPr>
            <a:r>
              <a:rPr lang="en-US" sz="1200" dirty="0">
                <a:solidFill>
                  <a:schemeClr val="bg2"/>
                </a:solidFill>
              </a:rPr>
              <a:t>Data / output</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indent="0" marL="0">
              <a:buNone/>
            </a:pPr>
            <a:r>
              <a:rPr lang="en-US" sz="3200" b="1" dirty="0">
                <a:solidFill>
                  <a:schemeClr val="bg2"/>
                </a:solidFill>
                <a:latin typeface="Cambria" pitchFamily="34" charset="0"/>
                <a:ea typeface="Cambria" pitchFamily="34" charset="-122"/>
                <a:cs typeface="Cambria" pitchFamily="34" charset="-120"/>
              </a:rPr>
              <a:t>Nine specialists, one rule: no claim without a source</a:t>
            </a:r>
            <a:endParaRPr lang="en-US" sz="3200" dirty="0"/>
          </a:p>
        </p:txBody>
      </p:sp>
      <p:sp>
        <p:nvSpPr>
          <p:cNvPr id="3" name="agent Source Extractor"/>
          <p:cNvSpPr/>
          <p:nvPr/>
        </p:nvSpPr>
        <p:spPr>
          <a:xfrm>
            <a:off x="548640" y="1371600"/>
            <a:ext cx="3566160" cy="1261872"/>
          </a:xfrm>
          <a:prstGeom prst="roundRect">
            <a:avLst>
              <a:gd name="adj" fmla="val 8696"/>
            </a:avLst>
          </a:prstGeom>
          <a:solidFill>
            <a:schemeClr val="tx2"/>
          </a:solidFill>
          <a:ln w="9525">
            <a:solidFill>
              <a:schemeClr val="tx2"/>
            </a:solidFill>
            <a:prstDash val="solid"/>
          </a:ln>
        </p:spPr>
      </p:sp>
      <p:sp>
        <p:nvSpPr>
          <p:cNvPr id="4" name="agent Source Extractor circle"/>
          <p:cNvSpPr/>
          <p:nvPr/>
        </p:nvSpPr>
        <p:spPr>
          <a:xfrm>
            <a:off x="749808" y="1673352"/>
            <a:ext cx="658368" cy="658368"/>
          </a:xfrm>
          <a:prstGeom prst="ellipse">
            <a:avLst/>
          </a:prstGeom>
          <a:solidFill>
            <a:schemeClr val="accent1"/>
          </a:solidFill>
          <a:ln w="6350">
            <a:solidFill>
              <a:schemeClr val="accent1"/>
            </a:solidFill>
            <a:prstDash val="solid"/>
          </a:ln>
        </p:spPr>
      </p:sp>
      <p:pic>
        <p:nvPicPr>
          <p:cNvPr id="5" name="agent Source Extractor icon" descr="preencoded.png">    </p:cNvPr>
          <p:cNvPicPr>
            <a:picLocks noChangeAspect="1"/>
          </p:cNvPicPr>
          <p:nvPr/>
        </p:nvPicPr>
        <p:blipFill>
          <a:blip r:embed="rId1"/>
          <a:stretch>
            <a:fillRect/>
          </a:stretch>
        </p:blipFill>
        <p:spPr>
          <a:xfrm>
            <a:off x="914400" y="1837944"/>
            <a:ext cx="329184" cy="329184"/>
          </a:xfrm>
          <a:prstGeom prst="rect">
            <a:avLst/>
          </a:prstGeom>
        </p:spPr>
      </p:pic>
      <p:sp>
        <p:nvSpPr>
          <p:cNvPr id="6" name="Text 3"/>
          <p:cNvSpPr txBox="1"/>
          <p:nvPr/>
        </p:nvSpPr>
        <p:spPr>
          <a:xfrm>
            <a:off x="1572768" y="1481328"/>
            <a:ext cx="2395728" cy="1042416"/>
          </a:xfrm>
          <a:prstGeom prst="rect">
            <a:avLst/>
          </a:prstGeom>
          <a:noFill/>
          <a:ln/>
        </p:spPr>
        <p:txBody>
          <a:bodyPr wrap="square" lIns="0" tIns="0" rIns="0" bIns="0" rtlCol="0" anchor="ctr"/>
          <a:lstStyle/>
          <a:p>
            <a:pPr indent="0" marL="0">
              <a:spcAft>
                <a:spcPts val="200"/>
              </a:spcAft>
              <a:buNone/>
            </a:pPr>
            <a:r>
              <a:rPr lang="en-US" sz="1600" b="1" dirty="0">
                <a:solidFill>
                  <a:schemeClr val="bg2"/>
                </a:solidFill>
              </a:rPr>
              <a:t>Source Extractor</a:t>
            </a:r>
            <a:endParaRPr lang="en-US" sz="1600" dirty="0"/>
          </a:p>
          <a:p>
            <a:pPr indent="0" marL="0">
              <a:spcAft>
                <a:spcPts val="200"/>
              </a:spcAft>
              <a:buNone/>
            </a:pPr>
            <a:r>
              <a:rPr lang="en-US" sz="1100" b="1" dirty="0">
                <a:solidFill>
                  <a:schemeClr val="accent1"/>
                </a:solidFill>
              </a:rPr>
              <a:t>CrewAI</a:t>
            </a:r>
            <a:endParaRPr lang="en-US" sz="1600" dirty="0"/>
          </a:p>
          <a:p>
            <a:pPr indent="0" marL="0">
              <a:spcAft>
                <a:spcPts val="200"/>
              </a:spcAft>
              <a:buNone/>
            </a:pPr>
            <a:r>
              <a:rPr lang="en-US" sz="1200" dirty="0">
                <a:solidFill>
                  <a:schemeClr val="accent6"/>
                </a:solidFill>
              </a:rPr>
              <a:t>Turns resumes, repos and notes into quoted facts</a:t>
            </a:r>
            <a:endParaRPr lang="en-US" sz="1600" dirty="0"/>
          </a:p>
        </p:txBody>
      </p:sp>
      <p:sp>
        <p:nvSpPr>
          <p:cNvPr id="7" name="agent JD Analyzer"/>
          <p:cNvSpPr/>
          <p:nvPr/>
        </p:nvSpPr>
        <p:spPr>
          <a:xfrm>
            <a:off x="4311396" y="1371600"/>
            <a:ext cx="3566160" cy="1261872"/>
          </a:xfrm>
          <a:prstGeom prst="roundRect">
            <a:avLst>
              <a:gd name="adj" fmla="val 8696"/>
            </a:avLst>
          </a:prstGeom>
          <a:solidFill>
            <a:schemeClr val="tx2"/>
          </a:solidFill>
          <a:ln w="9525">
            <a:solidFill>
              <a:schemeClr val="tx2"/>
            </a:solidFill>
            <a:prstDash val="solid"/>
          </a:ln>
        </p:spPr>
      </p:sp>
      <p:sp>
        <p:nvSpPr>
          <p:cNvPr id="8" name="agent JD Analyzer circle"/>
          <p:cNvSpPr/>
          <p:nvPr/>
        </p:nvSpPr>
        <p:spPr>
          <a:xfrm>
            <a:off x="4512564" y="1673352"/>
            <a:ext cx="658368" cy="658368"/>
          </a:xfrm>
          <a:prstGeom prst="ellipse">
            <a:avLst/>
          </a:prstGeom>
          <a:solidFill>
            <a:schemeClr val="accent1"/>
          </a:solidFill>
          <a:ln w="6350">
            <a:solidFill>
              <a:schemeClr val="accent1"/>
            </a:solidFill>
            <a:prstDash val="solid"/>
          </a:ln>
        </p:spPr>
      </p:sp>
      <p:pic>
        <p:nvPicPr>
          <p:cNvPr id="9" name="agent JD Analyzer icon" descr="preencoded.png">    </p:cNvPr>
          <p:cNvPicPr>
            <a:picLocks noChangeAspect="1"/>
          </p:cNvPicPr>
          <p:nvPr/>
        </p:nvPicPr>
        <p:blipFill>
          <a:blip r:embed="rId2"/>
          <a:stretch>
            <a:fillRect/>
          </a:stretch>
        </p:blipFill>
        <p:spPr>
          <a:xfrm>
            <a:off x="4677156" y="1837944"/>
            <a:ext cx="329184" cy="329184"/>
          </a:xfrm>
          <a:prstGeom prst="rect">
            <a:avLst/>
          </a:prstGeom>
        </p:spPr>
      </p:pic>
      <p:sp>
        <p:nvSpPr>
          <p:cNvPr id="10" name="Text 6"/>
          <p:cNvSpPr txBox="1"/>
          <p:nvPr/>
        </p:nvSpPr>
        <p:spPr>
          <a:xfrm>
            <a:off x="5335524" y="1481328"/>
            <a:ext cx="2395728" cy="1042416"/>
          </a:xfrm>
          <a:prstGeom prst="rect">
            <a:avLst/>
          </a:prstGeom>
          <a:noFill/>
          <a:ln/>
        </p:spPr>
        <p:txBody>
          <a:bodyPr wrap="square" lIns="0" tIns="0" rIns="0" bIns="0" rtlCol="0" anchor="ctr"/>
          <a:lstStyle/>
          <a:p>
            <a:pPr indent="0" marL="0">
              <a:spcAft>
                <a:spcPts val="200"/>
              </a:spcAft>
              <a:buNone/>
            </a:pPr>
            <a:r>
              <a:rPr lang="en-US" sz="1600" b="1" dirty="0">
                <a:solidFill>
                  <a:schemeClr val="bg2"/>
                </a:solidFill>
              </a:rPr>
              <a:t>JD Analyzer</a:t>
            </a:r>
            <a:endParaRPr lang="en-US" sz="1600" dirty="0"/>
          </a:p>
          <a:p>
            <a:pPr indent="0" marL="0">
              <a:spcAft>
                <a:spcPts val="200"/>
              </a:spcAft>
              <a:buNone/>
            </a:pPr>
            <a:r>
              <a:rPr lang="en-US" sz="1100" b="1" dirty="0">
                <a:solidFill>
                  <a:schemeClr val="accent1"/>
                </a:solidFill>
              </a:rPr>
              <a:t>CrewAI</a:t>
            </a:r>
            <a:endParaRPr lang="en-US" sz="1600" dirty="0"/>
          </a:p>
          <a:p>
            <a:pPr indent="0" marL="0">
              <a:spcAft>
                <a:spcPts val="200"/>
              </a:spcAft>
              <a:buNone/>
            </a:pPr>
            <a:r>
              <a:rPr lang="en-US" sz="1200" dirty="0">
                <a:solidFill>
                  <a:schemeClr val="accent6"/>
                </a:solidFill>
              </a:rPr>
              <a:t>Lists must-have and nice-to-have requirements</a:t>
            </a:r>
            <a:endParaRPr lang="en-US" sz="1600" dirty="0"/>
          </a:p>
        </p:txBody>
      </p:sp>
      <p:sp>
        <p:nvSpPr>
          <p:cNvPr id="11" name="agent Matcher"/>
          <p:cNvSpPr/>
          <p:nvPr/>
        </p:nvSpPr>
        <p:spPr>
          <a:xfrm>
            <a:off x="8074152" y="1371600"/>
            <a:ext cx="3566160" cy="1261872"/>
          </a:xfrm>
          <a:prstGeom prst="roundRect">
            <a:avLst>
              <a:gd name="adj" fmla="val 8696"/>
            </a:avLst>
          </a:prstGeom>
          <a:solidFill>
            <a:schemeClr val="tx2"/>
          </a:solidFill>
          <a:ln w="9525">
            <a:solidFill>
              <a:schemeClr val="tx2"/>
            </a:solidFill>
            <a:prstDash val="solid"/>
          </a:ln>
        </p:spPr>
      </p:sp>
      <p:sp>
        <p:nvSpPr>
          <p:cNvPr id="12" name="agent Matcher circle"/>
          <p:cNvSpPr/>
          <p:nvPr/>
        </p:nvSpPr>
        <p:spPr>
          <a:xfrm>
            <a:off x="8275320" y="1673352"/>
            <a:ext cx="658368" cy="658368"/>
          </a:xfrm>
          <a:prstGeom prst="ellipse">
            <a:avLst/>
          </a:prstGeom>
          <a:solidFill>
            <a:schemeClr val="accent1"/>
          </a:solidFill>
          <a:ln w="6350">
            <a:solidFill>
              <a:schemeClr val="accent1"/>
            </a:solidFill>
            <a:prstDash val="solid"/>
          </a:ln>
        </p:spPr>
      </p:sp>
      <p:pic>
        <p:nvPicPr>
          <p:cNvPr id="13" name="agent Matcher icon" descr="preencoded.png">    </p:cNvPr>
          <p:cNvPicPr>
            <a:picLocks noChangeAspect="1"/>
          </p:cNvPicPr>
          <p:nvPr/>
        </p:nvPicPr>
        <p:blipFill>
          <a:blip r:embed="rId3"/>
          <a:stretch>
            <a:fillRect/>
          </a:stretch>
        </p:blipFill>
        <p:spPr>
          <a:xfrm>
            <a:off x="8439912" y="1837944"/>
            <a:ext cx="329184" cy="329184"/>
          </a:xfrm>
          <a:prstGeom prst="rect">
            <a:avLst/>
          </a:prstGeom>
        </p:spPr>
      </p:pic>
      <p:sp>
        <p:nvSpPr>
          <p:cNvPr id="14" name="Text 9"/>
          <p:cNvSpPr txBox="1"/>
          <p:nvPr/>
        </p:nvSpPr>
        <p:spPr>
          <a:xfrm>
            <a:off x="9098280" y="1481328"/>
            <a:ext cx="2395728" cy="1042416"/>
          </a:xfrm>
          <a:prstGeom prst="rect">
            <a:avLst/>
          </a:prstGeom>
          <a:noFill/>
          <a:ln/>
        </p:spPr>
        <p:txBody>
          <a:bodyPr wrap="square" lIns="0" tIns="0" rIns="0" bIns="0" rtlCol="0" anchor="ctr"/>
          <a:lstStyle/>
          <a:p>
            <a:pPr indent="0" marL="0">
              <a:spcAft>
                <a:spcPts val="200"/>
              </a:spcAft>
              <a:buNone/>
            </a:pPr>
            <a:r>
              <a:rPr lang="en-US" sz="1600" b="1" dirty="0">
                <a:solidFill>
                  <a:schemeClr val="bg2"/>
                </a:solidFill>
              </a:rPr>
              <a:t>Matcher</a:t>
            </a:r>
            <a:endParaRPr lang="en-US" sz="1600" dirty="0"/>
          </a:p>
          <a:p>
            <a:pPr indent="0" marL="0">
              <a:spcAft>
                <a:spcPts val="200"/>
              </a:spcAft>
              <a:buNone/>
            </a:pPr>
            <a:r>
              <a:rPr lang="en-US" sz="1100" b="1" dirty="0">
                <a:solidFill>
                  <a:schemeClr val="accent1"/>
                </a:solidFill>
              </a:rPr>
              <a:t>CrewAI + Python</a:t>
            </a:r>
            <a:endParaRPr lang="en-US" sz="1600" dirty="0"/>
          </a:p>
          <a:p>
            <a:pPr indent="0" marL="0">
              <a:spcAft>
                <a:spcPts val="200"/>
              </a:spcAft>
              <a:buNone/>
            </a:pPr>
            <a:r>
              <a:rPr lang="en-US" sz="1200" dirty="0">
                <a:solidFill>
                  <a:schemeClr val="accent6"/>
                </a:solidFill>
              </a:rPr>
              <a:t>Proves each requirement: exact, fuzzy, meaning</a:t>
            </a:r>
            <a:endParaRPr lang="en-US" sz="1600" dirty="0"/>
          </a:p>
        </p:txBody>
      </p:sp>
      <p:sp>
        <p:nvSpPr>
          <p:cNvPr id="15" name="agent Project Selector"/>
          <p:cNvSpPr/>
          <p:nvPr/>
        </p:nvSpPr>
        <p:spPr>
          <a:xfrm>
            <a:off x="548640" y="2834640"/>
            <a:ext cx="3566160" cy="1261872"/>
          </a:xfrm>
          <a:prstGeom prst="roundRect">
            <a:avLst>
              <a:gd name="adj" fmla="val 8696"/>
            </a:avLst>
          </a:prstGeom>
          <a:solidFill>
            <a:schemeClr val="tx2"/>
          </a:solidFill>
          <a:ln w="9525">
            <a:solidFill>
              <a:schemeClr val="tx2"/>
            </a:solidFill>
            <a:prstDash val="solid"/>
          </a:ln>
        </p:spPr>
      </p:sp>
      <p:sp>
        <p:nvSpPr>
          <p:cNvPr id="16" name="agent Project Selector circle"/>
          <p:cNvSpPr/>
          <p:nvPr/>
        </p:nvSpPr>
        <p:spPr>
          <a:xfrm>
            <a:off x="749808" y="3136392"/>
            <a:ext cx="658368" cy="658368"/>
          </a:xfrm>
          <a:prstGeom prst="ellipse">
            <a:avLst/>
          </a:prstGeom>
          <a:solidFill>
            <a:schemeClr val="accent5"/>
          </a:solidFill>
          <a:ln w="6350">
            <a:solidFill>
              <a:schemeClr val="accent5"/>
            </a:solidFill>
            <a:prstDash val="solid"/>
          </a:ln>
        </p:spPr>
      </p:sp>
      <p:pic>
        <p:nvPicPr>
          <p:cNvPr id="17" name="agent Project Selector icon" descr="preencoded.png">    </p:cNvPr>
          <p:cNvPicPr>
            <a:picLocks noChangeAspect="1"/>
          </p:cNvPicPr>
          <p:nvPr/>
        </p:nvPicPr>
        <p:blipFill>
          <a:blip r:embed="rId4"/>
          <a:stretch>
            <a:fillRect/>
          </a:stretch>
        </p:blipFill>
        <p:spPr>
          <a:xfrm>
            <a:off x="914400" y="3300984"/>
            <a:ext cx="329184" cy="329184"/>
          </a:xfrm>
          <a:prstGeom prst="rect">
            <a:avLst/>
          </a:prstGeom>
        </p:spPr>
      </p:pic>
      <p:sp>
        <p:nvSpPr>
          <p:cNvPr id="18" name="Text 12"/>
          <p:cNvSpPr txBox="1"/>
          <p:nvPr/>
        </p:nvSpPr>
        <p:spPr>
          <a:xfrm>
            <a:off x="1572768" y="2944368"/>
            <a:ext cx="2395728" cy="1042416"/>
          </a:xfrm>
          <a:prstGeom prst="rect">
            <a:avLst/>
          </a:prstGeom>
          <a:noFill/>
          <a:ln/>
        </p:spPr>
        <p:txBody>
          <a:bodyPr wrap="square" lIns="0" tIns="0" rIns="0" bIns="0" rtlCol="0" anchor="ctr"/>
          <a:lstStyle/>
          <a:p>
            <a:pPr indent="0" marL="0">
              <a:spcAft>
                <a:spcPts val="200"/>
              </a:spcAft>
              <a:buNone/>
            </a:pPr>
            <a:r>
              <a:rPr lang="en-US" sz="1600" b="1" dirty="0">
                <a:solidFill>
                  <a:schemeClr val="bg2"/>
                </a:solidFill>
              </a:rPr>
              <a:t>Project Selector</a:t>
            </a:r>
            <a:endParaRPr lang="en-US" sz="1600" dirty="0"/>
          </a:p>
          <a:p>
            <a:pPr indent="0" marL="0">
              <a:spcAft>
                <a:spcPts val="200"/>
              </a:spcAft>
              <a:buNone/>
            </a:pPr>
            <a:r>
              <a:rPr lang="en-US" sz="1100" b="1" dirty="0">
                <a:solidFill>
                  <a:schemeClr val="accent1"/>
                </a:solidFill>
              </a:rPr>
              <a:t>Python</a:t>
            </a:r>
            <a:endParaRPr lang="en-US" sz="1600" dirty="0"/>
          </a:p>
          <a:p>
            <a:pPr indent="0" marL="0">
              <a:spcAft>
                <a:spcPts val="200"/>
              </a:spcAft>
              <a:buNone/>
            </a:pPr>
            <a:r>
              <a:rPr lang="en-US" sz="1200" dirty="0">
                <a:solidFill>
                  <a:schemeClr val="accent6"/>
                </a:solidFill>
              </a:rPr>
              <a:t>Keeps the projects and jobs that fit this role</a:t>
            </a:r>
            <a:endParaRPr lang="en-US" sz="1600" dirty="0"/>
          </a:p>
        </p:txBody>
      </p:sp>
      <p:sp>
        <p:nvSpPr>
          <p:cNvPr id="19" name="agent Resume Writer"/>
          <p:cNvSpPr/>
          <p:nvPr/>
        </p:nvSpPr>
        <p:spPr>
          <a:xfrm>
            <a:off x="4311396" y="2834640"/>
            <a:ext cx="3566160" cy="1261872"/>
          </a:xfrm>
          <a:prstGeom prst="roundRect">
            <a:avLst>
              <a:gd name="adj" fmla="val 8696"/>
            </a:avLst>
          </a:prstGeom>
          <a:solidFill>
            <a:schemeClr val="tx2"/>
          </a:solidFill>
          <a:ln w="9525">
            <a:solidFill>
              <a:schemeClr val="tx2"/>
            </a:solidFill>
            <a:prstDash val="solid"/>
          </a:ln>
        </p:spPr>
      </p:sp>
      <p:sp>
        <p:nvSpPr>
          <p:cNvPr id="20" name="agent Resume Writer circle"/>
          <p:cNvSpPr/>
          <p:nvPr/>
        </p:nvSpPr>
        <p:spPr>
          <a:xfrm>
            <a:off x="4512564" y="3136392"/>
            <a:ext cx="658368" cy="658368"/>
          </a:xfrm>
          <a:prstGeom prst="ellipse">
            <a:avLst/>
          </a:prstGeom>
          <a:solidFill>
            <a:schemeClr val="accent3"/>
          </a:solidFill>
          <a:ln w="6350">
            <a:solidFill>
              <a:schemeClr val="accent3"/>
            </a:solidFill>
            <a:prstDash val="solid"/>
          </a:ln>
        </p:spPr>
      </p:sp>
      <p:pic>
        <p:nvPicPr>
          <p:cNvPr id="21" name="agent Resume Writer icon" descr="preencoded.png">    </p:cNvPr>
          <p:cNvPicPr>
            <a:picLocks noChangeAspect="1"/>
          </p:cNvPicPr>
          <p:nvPr/>
        </p:nvPicPr>
        <p:blipFill>
          <a:blip r:embed="rId5"/>
          <a:stretch>
            <a:fillRect/>
          </a:stretch>
        </p:blipFill>
        <p:spPr>
          <a:xfrm>
            <a:off x="4677156" y="3300984"/>
            <a:ext cx="329184" cy="329184"/>
          </a:xfrm>
          <a:prstGeom prst="rect">
            <a:avLst/>
          </a:prstGeom>
        </p:spPr>
      </p:pic>
      <p:sp>
        <p:nvSpPr>
          <p:cNvPr id="22" name="Text 15"/>
          <p:cNvSpPr txBox="1"/>
          <p:nvPr/>
        </p:nvSpPr>
        <p:spPr>
          <a:xfrm>
            <a:off x="5335524" y="2944368"/>
            <a:ext cx="2395728" cy="1042416"/>
          </a:xfrm>
          <a:prstGeom prst="rect">
            <a:avLst/>
          </a:prstGeom>
          <a:noFill/>
          <a:ln/>
        </p:spPr>
        <p:txBody>
          <a:bodyPr wrap="square" lIns="0" tIns="0" rIns="0" bIns="0" rtlCol="0" anchor="ctr"/>
          <a:lstStyle/>
          <a:p>
            <a:pPr indent="0" marL="0">
              <a:spcAft>
                <a:spcPts val="200"/>
              </a:spcAft>
              <a:buNone/>
            </a:pPr>
            <a:r>
              <a:rPr lang="en-US" sz="1600" b="1" dirty="0">
                <a:solidFill>
                  <a:schemeClr val="bg2"/>
                </a:solidFill>
              </a:rPr>
              <a:t>Resume Writer</a:t>
            </a:r>
            <a:endParaRPr lang="en-US" sz="1600" dirty="0"/>
          </a:p>
          <a:p>
            <a:pPr indent="0" marL="0">
              <a:spcAft>
                <a:spcPts val="200"/>
              </a:spcAft>
              <a:buNone/>
            </a:pPr>
            <a:r>
              <a:rPr lang="en-US" sz="1100" b="1" dirty="0">
                <a:solidFill>
                  <a:schemeClr val="accent1"/>
                </a:solidFill>
              </a:rPr>
              <a:t>Google ADK</a:t>
            </a:r>
            <a:endParaRPr lang="en-US" sz="1600" dirty="0"/>
          </a:p>
          <a:p>
            <a:pPr indent="0" marL="0">
              <a:spcAft>
                <a:spcPts val="200"/>
              </a:spcAft>
              <a:buNone/>
            </a:pPr>
            <a:r>
              <a:rPr lang="en-US" sz="1200" dirty="0">
                <a:solidFill>
                  <a:schemeClr val="accent6"/>
                </a:solidFill>
              </a:rPr>
              <a:t>Writes bullets using verified facts only</a:t>
            </a:r>
            <a:endParaRPr lang="en-US" sz="1600" dirty="0"/>
          </a:p>
        </p:txBody>
      </p:sp>
      <p:sp>
        <p:nvSpPr>
          <p:cNvPr id="23" name="agent Verifier"/>
          <p:cNvSpPr/>
          <p:nvPr/>
        </p:nvSpPr>
        <p:spPr>
          <a:xfrm>
            <a:off x="8074152" y="2834640"/>
            <a:ext cx="3566160" cy="1261872"/>
          </a:xfrm>
          <a:prstGeom prst="roundRect">
            <a:avLst>
              <a:gd name="adj" fmla="val 8696"/>
            </a:avLst>
          </a:prstGeom>
          <a:solidFill>
            <a:schemeClr val="tx2"/>
          </a:solidFill>
          <a:ln w="9525">
            <a:solidFill>
              <a:schemeClr val="tx2"/>
            </a:solidFill>
            <a:prstDash val="solid"/>
          </a:ln>
        </p:spPr>
      </p:sp>
      <p:sp>
        <p:nvSpPr>
          <p:cNvPr id="24" name="agent Verifier circle"/>
          <p:cNvSpPr/>
          <p:nvPr/>
        </p:nvSpPr>
        <p:spPr>
          <a:xfrm>
            <a:off x="8275320" y="3136392"/>
            <a:ext cx="658368" cy="658368"/>
          </a:xfrm>
          <a:prstGeom prst="ellipse">
            <a:avLst/>
          </a:prstGeom>
          <a:solidFill>
            <a:schemeClr val="accent3"/>
          </a:solidFill>
          <a:ln w="6350">
            <a:solidFill>
              <a:schemeClr val="accent3"/>
            </a:solidFill>
            <a:prstDash val="solid"/>
          </a:ln>
        </p:spPr>
      </p:sp>
      <p:pic>
        <p:nvPicPr>
          <p:cNvPr id="25" name="agent Verifier icon" descr="preencoded.png">    </p:cNvPr>
          <p:cNvPicPr>
            <a:picLocks noChangeAspect="1"/>
          </p:cNvPicPr>
          <p:nvPr/>
        </p:nvPicPr>
        <p:blipFill>
          <a:blip r:embed="rId6"/>
          <a:stretch>
            <a:fillRect/>
          </a:stretch>
        </p:blipFill>
        <p:spPr>
          <a:xfrm>
            <a:off x="8439912" y="3300984"/>
            <a:ext cx="329184" cy="329184"/>
          </a:xfrm>
          <a:prstGeom prst="rect">
            <a:avLst/>
          </a:prstGeom>
        </p:spPr>
      </p:pic>
      <p:sp>
        <p:nvSpPr>
          <p:cNvPr id="26" name="Text 18"/>
          <p:cNvSpPr txBox="1"/>
          <p:nvPr/>
        </p:nvSpPr>
        <p:spPr>
          <a:xfrm>
            <a:off x="9098280" y="2944368"/>
            <a:ext cx="2395728" cy="1042416"/>
          </a:xfrm>
          <a:prstGeom prst="rect">
            <a:avLst/>
          </a:prstGeom>
          <a:noFill/>
          <a:ln/>
        </p:spPr>
        <p:txBody>
          <a:bodyPr wrap="square" lIns="0" tIns="0" rIns="0" bIns="0" rtlCol="0" anchor="ctr"/>
          <a:lstStyle/>
          <a:p>
            <a:pPr indent="0" marL="0">
              <a:spcAft>
                <a:spcPts val="200"/>
              </a:spcAft>
              <a:buNone/>
            </a:pPr>
            <a:r>
              <a:rPr lang="en-US" sz="1600" b="1" dirty="0">
                <a:solidFill>
                  <a:schemeClr val="bg2"/>
                </a:solidFill>
              </a:rPr>
              <a:t>Verifier</a:t>
            </a:r>
            <a:endParaRPr lang="en-US" sz="1600" dirty="0"/>
          </a:p>
          <a:p>
            <a:pPr indent="0" marL="0">
              <a:spcAft>
                <a:spcPts val="200"/>
              </a:spcAft>
              <a:buNone/>
            </a:pPr>
            <a:r>
              <a:rPr lang="en-US" sz="1100" b="1" dirty="0">
                <a:solidFill>
                  <a:schemeClr val="accent1"/>
                </a:solidFill>
              </a:rPr>
              <a:t>ADK callback</a:t>
            </a:r>
            <a:endParaRPr lang="en-US" sz="1600" dirty="0"/>
          </a:p>
          <a:p>
            <a:pPr indent="0" marL="0">
              <a:spcAft>
                <a:spcPts val="200"/>
              </a:spcAft>
              <a:buNone/>
            </a:pPr>
            <a:r>
              <a:rPr lang="en-US" sz="1200" dirty="0">
                <a:solidFill>
                  <a:schemeClr val="accent6"/>
                </a:solidFill>
              </a:rPr>
              <a:t>Rejects wrong numbers, tools and boasts</a:t>
            </a:r>
            <a:endParaRPr lang="en-US" sz="1600" dirty="0"/>
          </a:p>
        </p:txBody>
      </p:sp>
      <p:sp>
        <p:nvSpPr>
          <p:cNvPr id="27" name="agent Keyword Coach"/>
          <p:cNvSpPr/>
          <p:nvPr/>
        </p:nvSpPr>
        <p:spPr>
          <a:xfrm>
            <a:off x="548640" y="4297680"/>
            <a:ext cx="3566160" cy="1261872"/>
          </a:xfrm>
          <a:prstGeom prst="roundRect">
            <a:avLst>
              <a:gd name="adj" fmla="val 8696"/>
            </a:avLst>
          </a:prstGeom>
          <a:solidFill>
            <a:schemeClr val="tx2"/>
          </a:solidFill>
          <a:ln w="9525">
            <a:solidFill>
              <a:schemeClr val="tx2"/>
            </a:solidFill>
            <a:prstDash val="solid"/>
          </a:ln>
        </p:spPr>
      </p:sp>
      <p:sp>
        <p:nvSpPr>
          <p:cNvPr id="28" name="agent Keyword Coach circle"/>
          <p:cNvSpPr/>
          <p:nvPr/>
        </p:nvSpPr>
        <p:spPr>
          <a:xfrm>
            <a:off x="749808" y="4599432"/>
            <a:ext cx="658368" cy="658368"/>
          </a:xfrm>
          <a:prstGeom prst="ellipse">
            <a:avLst/>
          </a:prstGeom>
          <a:solidFill>
            <a:schemeClr val="accent5"/>
          </a:solidFill>
          <a:ln w="6350">
            <a:solidFill>
              <a:schemeClr val="accent5"/>
            </a:solidFill>
            <a:prstDash val="solid"/>
          </a:ln>
        </p:spPr>
      </p:sp>
      <p:pic>
        <p:nvPicPr>
          <p:cNvPr id="29" name="agent Keyword Coach icon" descr="preencoded.png">    </p:cNvPr>
          <p:cNvPicPr>
            <a:picLocks noChangeAspect="1"/>
          </p:cNvPicPr>
          <p:nvPr/>
        </p:nvPicPr>
        <p:blipFill>
          <a:blip r:embed="rId7"/>
          <a:stretch>
            <a:fillRect/>
          </a:stretch>
        </p:blipFill>
        <p:spPr>
          <a:xfrm>
            <a:off x="914400" y="4764024"/>
            <a:ext cx="329184" cy="329184"/>
          </a:xfrm>
          <a:prstGeom prst="rect">
            <a:avLst/>
          </a:prstGeom>
        </p:spPr>
      </p:pic>
      <p:sp>
        <p:nvSpPr>
          <p:cNvPr id="30" name="Text 21"/>
          <p:cNvSpPr txBox="1"/>
          <p:nvPr/>
        </p:nvSpPr>
        <p:spPr>
          <a:xfrm>
            <a:off x="1572768" y="4407408"/>
            <a:ext cx="2395728" cy="1042416"/>
          </a:xfrm>
          <a:prstGeom prst="rect">
            <a:avLst/>
          </a:prstGeom>
          <a:noFill/>
          <a:ln/>
        </p:spPr>
        <p:txBody>
          <a:bodyPr wrap="square" lIns="0" tIns="0" rIns="0" bIns="0" rtlCol="0" anchor="ctr"/>
          <a:lstStyle/>
          <a:p>
            <a:pPr indent="0" marL="0">
              <a:spcAft>
                <a:spcPts val="200"/>
              </a:spcAft>
              <a:buNone/>
            </a:pPr>
            <a:r>
              <a:rPr lang="en-US" sz="1600" b="1" dirty="0">
                <a:solidFill>
                  <a:schemeClr val="bg2"/>
                </a:solidFill>
              </a:rPr>
              <a:t>Keyword Coach</a:t>
            </a:r>
            <a:endParaRPr lang="en-US" sz="1600" dirty="0"/>
          </a:p>
          <a:p>
            <a:pPr indent="0" marL="0">
              <a:spcAft>
                <a:spcPts val="200"/>
              </a:spcAft>
              <a:buNone/>
            </a:pPr>
            <a:r>
              <a:rPr lang="en-US" sz="1100" b="1" dirty="0">
                <a:solidFill>
                  <a:schemeClr val="accent1"/>
                </a:solidFill>
              </a:rPr>
              <a:t>Python</a:t>
            </a:r>
            <a:endParaRPr lang="en-US" sz="1600" dirty="0"/>
          </a:p>
          <a:p>
            <a:pPr indent="0" marL="0">
              <a:spcAft>
                <a:spcPts val="200"/>
              </a:spcAft>
              <a:buNone/>
            </a:pPr>
            <a:r>
              <a:rPr lang="en-US" sz="1200" dirty="0">
                <a:solidFill>
                  <a:schemeClr val="accent6"/>
                </a:solidFill>
              </a:rPr>
              <a:t>Grounded rewrites or an honest gap</a:t>
            </a:r>
            <a:endParaRPr lang="en-US" sz="1600" dirty="0"/>
          </a:p>
        </p:txBody>
      </p:sp>
      <p:sp>
        <p:nvSpPr>
          <p:cNvPr id="31" name="agent Scoring Engine"/>
          <p:cNvSpPr/>
          <p:nvPr/>
        </p:nvSpPr>
        <p:spPr>
          <a:xfrm>
            <a:off x="4311396" y="4297680"/>
            <a:ext cx="3566160" cy="1261872"/>
          </a:xfrm>
          <a:prstGeom prst="roundRect">
            <a:avLst>
              <a:gd name="adj" fmla="val 8696"/>
            </a:avLst>
          </a:prstGeom>
          <a:solidFill>
            <a:schemeClr val="tx2"/>
          </a:solidFill>
          <a:ln w="9525">
            <a:solidFill>
              <a:schemeClr val="tx2"/>
            </a:solidFill>
            <a:prstDash val="solid"/>
          </a:ln>
        </p:spPr>
      </p:sp>
      <p:sp>
        <p:nvSpPr>
          <p:cNvPr id="32" name="agent Scoring Engine circle"/>
          <p:cNvSpPr/>
          <p:nvPr/>
        </p:nvSpPr>
        <p:spPr>
          <a:xfrm>
            <a:off x="4512564" y="4599432"/>
            <a:ext cx="658368" cy="658368"/>
          </a:xfrm>
          <a:prstGeom prst="ellipse">
            <a:avLst/>
          </a:prstGeom>
          <a:solidFill>
            <a:schemeClr val="accent5"/>
          </a:solidFill>
          <a:ln w="6350">
            <a:solidFill>
              <a:schemeClr val="accent5"/>
            </a:solidFill>
            <a:prstDash val="solid"/>
          </a:ln>
        </p:spPr>
      </p:sp>
      <p:pic>
        <p:nvPicPr>
          <p:cNvPr id="33" name="agent Scoring Engine icon" descr="preencoded.png">    </p:cNvPr>
          <p:cNvPicPr>
            <a:picLocks noChangeAspect="1"/>
          </p:cNvPicPr>
          <p:nvPr/>
        </p:nvPicPr>
        <p:blipFill>
          <a:blip r:embed="rId8"/>
          <a:stretch>
            <a:fillRect/>
          </a:stretch>
        </p:blipFill>
        <p:spPr>
          <a:xfrm>
            <a:off x="4677156" y="4764024"/>
            <a:ext cx="329184" cy="329184"/>
          </a:xfrm>
          <a:prstGeom prst="rect">
            <a:avLst/>
          </a:prstGeom>
        </p:spPr>
      </p:pic>
      <p:sp>
        <p:nvSpPr>
          <p:cNvPr id="34" name="Text 24"/>
          <p:cNvSpPr txBox="1"/>
          <p:nvPr/>
        </p:nvSpPr>
        <p:spPr>
          <a:xfrm>
            <a:off x="5335524" y="4407408"/>
            <a:ext cx="2395728" cy="1042416"/>
          </a:xfrm>
          <a:prstGeom prst="rect">
            <a:avLst/>
          </a:prstGeom>
          <a:noFill/>
          <a:ln/>
        </p:spPr>
        <p:txBody>
          <a:bodyPr wrap="square" lIns="0" tIns="0" rIns="0" bIns="0" rtlCol="0" anchor="ctr"/>
          <a:lstStyle/>
          <a:p>
            <a:pPr indent="0" marL="0">
              <a:spcAft>
                <a:spcPts val="200"/>
              </a:spcAft>
              <a:buNone/>
            </a:pPr>
            <a:r>
              <a:rPr lang="en-US" sz="1600" b="1" dirty="0">
                <a:solidFill>
                  <a:schemeClr val="bg2"/>
                </a:solidFill>
              </a:rPr>
              <a:t>Scoring Engine</a:t>
            </a:r>
            <a:endParaRPr lang="en-US" sz="1600" dirty="0"/>
          </a:p>
          <a:p>
            <a:pPr indent="0" marL="0">
              <a:spcAft>
                <a:spcPts val="200"/>
              </a:spcAft>
              <a:buNone/>
            </a:pPr>
            <a:r>
              <a:rPr lang="en-US" sz="1100" b="1" dirty="0">
                <a:solidFill>
                  <a:schemeClr val="accent1"/>
                </a:solidFill>
              </a:rPr>
              <a:t>Python, no AI</a:t>
            </a:r>
            <a:endParaRPr lang="en-US" sz="1600" dirty="0"/>
          </a:p>
          <a:p>
            <a:pPr indent="0" marL="0">
              <a:spcAft>
                <a:spcPts val="200"/>
              </a:spcAft>
              <a:buNone/>
            </a:pPr>
            <a:r>
              <a:rPr lang="en-US" sz="1200" dirty="0">
                <a:solidFill>
                  <a:schemeClr val="accent6"/>
                </a:solidFill>
              </a:rPr>
              <a:t>Deterministic, explainable job-fit score</a:t>
            </a:r>
            <a:endParaRPr lang="en-US" sz="1600" dirty="0"/>
          </a:p>
        </p:txBody>
      </p:sp>
      <p:sp>
        <p:nvSpPr>
          <p:cNvPr id="35" name="agent Coordinator"/>
          <p:cNvSpPr/>
          <p:nvPr/>
        </p:nvSpPr>
        <p:spPr>
          <a:xfrm>
            <a:off x="8074152" y="4297680"/>
            <a:ext cx="3566160" cy="1261872"/>
          </a:xfrm>
          <a:prstGeom prst="roundRect">
            <a:avLst>
              <a:gd name="adj" fmla="val 8696"/>
            </a:avLst>
          </a:prstGeom>
          <a:solidFill>
            <a:schemeClr val="tx2"/>
          </a:solidFill>
          <a:ln w="9525">
            <a:solidFill>
              <a:schemeClr val="tx2"/>
            </a:solidFill>
            <a:prstDash val="solid"/>
          </a:ln>
        </p:spPr>
      </p:sp>
      <p:sp>
        <p:nvSpPr>
          <p:cNvPr id="36" name="agent Coordinator circle"/>
          <p:cNvSpPr/>
          <p:nvPr/>
        </p:nvSpPr>
        <p:spPr>
          <a:xfrm>
            <a:off x="8275320" y="4599432"/>
            <a:ext cx="658368" cy="658368"/>
          </a:xfrm>
          <a:prstGeom prst="ellipse">
            <a:avLst/>
          </a:prstGeom>
          <a:solidFill>
            <a:schemeClr val="accent3"/>
          </a:solidFill>
          <a:ln w="6350">
            <a:solidFill>
              <a:schemeClr val="accent3"/>
            </a:solidFill>
            <a:prstDash val="solid"/>
          </a:ln>
        </p:spPr>
      </p:sp>
      <p:pic>
        <p:nvPicPr>
          <p:cNvPr id="37" name="agent Coordinator icon" descr="preencoded.png">    </p:cNvPr>
          <p:cNvPicPr>
            <a:picLocks noChangeAspect="1"/>
          </p:cNvPicPr>
          <p:nvPr/>
        </p:nvPicPr>
        <p:blipFill>
          <a:blip r:embed="rId9"/>
          <a:stretch>
            <a:fillRect/>
          </a:stretch>
        </p:blipFill>
        <p:spPr>
          <a:xfrm>
            <a:off x="8439912" y="4764024"/>
            <a:ext cx="329184" cy="329184"/>
          </a:xfrm>
          <a:prstGeom prst="rect">
            <a:avLst/>
          </a:prstGeom>
        </p:spPr>
      </p:pic>
      <p:sp>
        <p:nvSpPr>
          <p:cNvPr id="38" name="Text 27"/>
          <p:cNvSpPr txBox="1"/>
          <p:nvPr/>
        </p:nvSpPr>
        <p:spPr>
          <a:xfrm>
            <a:off x="9098280" y="4407408"/>
            <a:ext cx="2395728" cy="1042416"/>
          </a:xfrm>
          <a:prstGeom prst="rect">
            <a:avLst/>
          </a:prstGeom>
          <a:noFill/>
          <a:ln/>
        </p:spPr>
        <p:txBody>
          <a:bodyPr wrap="square" lIns="0" tIns="0" rIns="0" bIns="0" rtlCol="0" anchor="ctr"/>
          <a:lstStyle/>
          <a:p>
            <a:pPr indent="0" marL="0">
              <a:spcAft>
                <a:spcPts val="200"/>
              </a:spcAft>
              <a:buNone/>
            </a:pPr>
            <a:r>
              <a:rPr lang="en-US" sz="1600" b="1" dirty="0">
                <a:solidFill>
                  <a:schemeClr val="bg2"/>
                </a:solidFill>
              </a:rPr>
              <a:t>Coordinator</a:t>
            </a:r>
            <a:endParaRPr lang="en-US" sz="1600" dirty="0"/>
          </a:p>
          <a:p>
            <a:pPr indent="0" marL="0">
              <a:spcAft>
                <a:spcPts val="200"/>
              </a:spcAft>
              <a:buNone/>
            </a:pPr>
            <a:r>
              <a:rPr lang="en-US" sz="1100" b="1" dirty="0">
                <a:solidFill>
                  <a:schemeClr val="accent1"/>
                </a:solidFill>
              </a:rPr>
              <a:t>Google ADK</a:t>
            </a:r>
            <a:endParaRPr lang="en-US" sz="1600" dirty="0"/>
          </a:p>
          <a:p>
            <a:pPr indent="0" marL="0">
              <a:spcAft>
                <a:spcPts val="200"/>
              </a:spcAft>
              <a:buNone/>
            </a:pPr>
            <a:r>
              <a:rPr lang="en-US" sz="1200" dirty="0">
                <a:solidFill>
                  <a:schemeClr val="accent6"/>
                </a:solidFill>
              </a:rPr>
              <a:t>Chat helper with tools and a sub-agent</a:t>
            </a:r>
            <a:endParaRPr lang="en-US" sz="1600" dirty="0"/>
          </a:p>
        </p:txBody>
      </p:sp>
      <p:sp>
        <p:nvSpPr>
          <p:cNvPr id="39" name="Text 28"/>
          <p:cNvSpPr txBox="1"/>
          <p:nvPr/>
        </p:nvSpPr>
        <p:spPr>
          <a:xfrm>
            <a:off x="548640" y="5870448"/>
            <a:ext cx="11064240" cy="365760"/>
          </a:xfrm>
          <a:prstGeom prst="rect">
            <a:avLst/>
          </a:prstGeom>
          <a:noFill/>
          <a:ln/>
        </p:spPr>
        <p:txBody>
          <a:bodyPr wrap="square" lIns="0" tIns="0" rIns="0" bIns="0" rtlCol="0" anchor="ctr"/>
          <a:lstStyle/>
          <a:p>
            <a:pPr indent="0" marL="0">
              <a:buNone/>
            </a:pPr>
            <a:r>
              <a:rPr lang="en-US" sz="1300" b="1" dirty="0">
                <a:solidFill>
                  <a:schemeClr val="accent1"/>
                </a:solidFill>
              </a:rPr>
              <a:t>Stack   </a:t>
            </a:r>
            <a:pPr indent="0" marL="0">
              <a:buNone/>
            </a:pPr>
            <a:r>
              <a:rPr lang="en-US" sz="1300" dirty="0">
                <a:solidFill>
                  <a:schemeClr val="bg2"/>
                </a:solidFill>
              </a:rPr>
              <a:t>Next.js + GSAP  ·  FastAPI  ·  PostgreSQL in Docker  ·  CrewAI Flows  ·  Google ADK  ·  Gemini  ·  RapidFuzz  ·  fpdf2 / python-docx</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indent="0" marL="0">
              <a:buNone/>
            </a:pPr>
            <a:r>
              <a:rPr lang="en-US" sz="3200" b="1" dirty="0">
                <a:solidFill>
                  <a:schemeClr val="bg2"/>
                </a:solidFill>
                <a:latin typeface="Cambria" pitchFamily="34" charset="0"/>
                <a:ea typeface="Cambria" pitchFamily="34" charset="-122"/>
                <a:cs typeface="Cambria" pitchFamily="34" charset="-120"/>
              </a:rPr>
              <a:t>A score you can explain, and it never changes</a:t>
            </a:r>
            <a:endParaRPr lang="en-US" sz="3200" dirty="0"/>
          </a:p>
        </p:txBody>
      </p:sp>
      <p:sp>
        <p:nvSpPr>
          <p:cNvPr id="3" name="formula card"/>
          <p:cNvSpPr/>
          <p:nvPr/>
        </p:nvSpPr>
        <p:spPr>
          <a:xfrm>
            <a:off x="548640" y="1371600"/>
            <a:ext cx="5806440" cy="1234440"/>
          </a:xfrm>
          <a:prstGeom prst="roundRect">
            <a:avLst>
              <a:gd name="adj" fmla="val 8889"/>
            </a:avLst>
          </a:prstGeom>
          <a:solidFill>
            <a:schemeClr val="accent5"/>
          </a:solidFill>
          <a:ln w="9525">
            <a:solidFill>
              <a:schemeClr val="accent5"/>
            </a:solidFill>
            <a:prstDash val="solid"/>
          </a:ln>
        </p:spPr>
      </p:sp>
      <p:sp>
        <p:nvSpPr>
          <p:cNvPr id="4" name="Text 2"/>
          <p:cNvSpPr txBox="1"/>
          <p:nvPr/>
        </p:nvSpPr>
        <p:spPr>
          <a:xfrm>
            <a:off x="777240" y="1463040"/>
            <a:ext cx="5440680" cy="777240"/>
          </a:xfrm>
          <a:prstGeom prst="rect">
            <a:avLst/>
          </a:prstGeom>
          <a:noFill/>
          <a:ln/>
        </p:spPr>
        <p:txBody>
          <a:bodyPr wrap="square" lIns="0" tIns="0" rIns="0" bIns="0" rtlCol="0" anchor="ctr"/>
          <a:lstStyle/>
          <a:p>
            <a:pPr indent="0" marL="0">
              <a:buNone/>
            </a:pPr>
            <a:r>
              <a:rPr lang="en-US" sz="1800" b="1" dirty="0">
                <a:solidFill>
                  <a:schemeClr val="bg2"/>
                </a:solidFill>
                <a:latin typeface="Cambria" pitchFamily="34" charset="0"/>
                <a:ea typeface="Cambria" pitchFamily="34" charset="-122"/>
                <a:cs typeface="Cambria" pitchFamily="34" charset="-120"/>
              </a:rPr>
              <a:t>Score = 0.40·Skills + 0.25·Responsibilities</a:t>
            </a:r>
            <a:endParaRPr lang="en-US" sz="1800" dirty="0"/>
          </a:p>
          <a:p>
            <a:pPr indent="0" marL="0">
              <a:buNone/>
            </a:pPr>
            <a:r>
              <a:rPr lang="en-US" sz="1800" b="1" dirty="0">
                <a:solidFill>
                  <a:schemeClr val="bg2"/>
                </a:solidFill>
                <a:latin typeface="Cambria" pitchFamily="34" charset="0"/>
                <a:ea typeface="Cambria" pitchFamily="34" charset="-122"/>
                <a:cs typeface="Cambria" pitchFamily="34" charset="-120"/>
              </a:rPr>
              <a:t>+ 0.15·Experience + 0.10·Evidence + 0.10·Education</a:t>
            </a:r>
            <a:endParaRPr lang="en-US" sz="1800" dirty="0"/>
          </a:p>
        </p:txBody>
      </p:sp>
      <p:sp>
        <p:nvSpPr>
          <p:cNvPr id="5" name="Text 3"/>
          <p:cNvSpPr txBox="1"/>
          <p:nvPr/>
        </p:nvSpPr>
        <p:spPr>
          <a:xfrm>
            <a:off x="777240" y="2240280"/>
            <a:ext cx="5394960" cy="274320"/>
          </a:xfrm>
          <a:prstGeom prst="rect">
            <a:avLst/>
          </a:prstGeom>
          <a:noFill/>
          <a:ln/>
        </p:spPr>
        <p:txBody>
          <a:bodyPr wrap="square" lIns="0" tIns="0" rIns="0" bIns="0" rtlCol="0" anchor="ctr"/>
          <a:lstStyle/>
          <a:p>
            <a:pPr indent="0" marL="0">
              <a:buNone/>
            </a:pPr>
            <a:r>
              <a:rPr lang="en-US" sz="1200" i="1" dirty="0">
                <a:solidFill>
                  <a:schemeClr val="accent4"/>
                </a:solidFill>
              </a:rPr>
              <a:t>Standard profile. Each part is 0 to 100.</a:t>
            </a:r>
            <a:endParaRPr lang="en-US" sz="1200" dirty="0"/>
          </a:p>
        </p:txBody>
      </p:sp>
      <p:sp>
        <p:nvSpPr>
          <p:cNvPr id="6" name="Text 4"/>
          <p:cNvSpPr txBox="1"/>
          <p:nvPr/>
        </p:nvSpPr>
        <p:spPr>
          <a:xfrm>
            <a:off x="548640" y="2834640"/>
            <a:ext cx="5806440" cy="411480"/>
          </a:xfrm>
          <a:prstGeom prst="rect">
            <a:avLst/>
          </a:prstGeom>
          <a:noFill/>
          <a:ln/>
        </p:spPr>
        <p:txBody>
          <a:bodyPr wrap="square" lIns="0" tIns="0" rIns="0" bIns="0" rtlCol="0" anchor="ctr"/>
          <a:lstStyle/>
          <a:p>
            <a:pPr indent="0" marL="0">
              <a:buNone/>
            </a:pPr>
            <a:r>
              <a:rPr lang="en-US" sz="1400" b="1" dirty="0">
                <a:solidFill>
                  <a:schemeClr val="accent2"/>
                </a:solidFill>
              </a:rPr>
              <a:t>Skills   </a:t>
            </a:r>
            <a:pPr indent="0" marL="0">
              <a:buNone/>
            </a:pPr>
            <a:r>
              <a:rPr lang="en-US" sz="1400" dirty="0">
                <a:solidFill>
                  <a:schemeClr val="bg2"/>
                </a:solidFill>
              </a:rPr>
              <a:t>weighted match, required 75% and preferred 25%</a:t>
            </a:r>
            <a:endParaRPr lang="en-US" sz="1400" dirty="0"/>
          </a:p>
        </p:txBody>
      </p:sp>
      <p:sp>
        <p:nvSpPr>
          <p:cNvPr id="7" name="Text 5"/>
          <p:cNvSpPr txBox="1"/>
          <p:nvPr/>
        </p:nvSpPr>
        <p:spPr>
          <a:xfrm>
            <a:off x="548640" y="3383280"/>
            <a:ext cx="5806440" cy="411480"/>
          </a:xfrm>
          <a:prstGeom prst="rect">
            <a:avLst/>
          </a:prstGeom>
          <a:noFill/>
          <a:ln/>
        </p:spPr>
        <p:txBody>
          <a:bodyPr wrap="square" lIns="0" tIns="0" rIns="0" bIns="0" rtlCol="0" anchor="ctr"/>
          <a:lstStyle/>
          <a:p>
            <a:pPr indent="0" marL="0">
              <a:buNone/>
            </a:pPr>
            <a:r>
              <a:rPr lang="en-US" sz="1400" b="1" dirty="0">
                <a:solidFill>
                  <a:schemeClr val="accent2"/>
                </a:solidFill>
              </a:rPr>
              <a:t>Responsibilities   </a:t>
            </a:r>
            <a:pPr indent="0" marL="0">
              <a:buNone/>
            </a:pPr>
            <a:r>
              <a:rPr lang="en-US" sz="1400" dirty="0">
                <a:solidFill>
                  <a:schemeClr val="bg2"/>
                </a:solidFill>
              </a:rPr>
              <a:t>0.6 × duties proved + 0.4 × best project</a:t>
            </a:r>
            <a:endParaRPr lang="en-US" sz="1400" dirty="0"/>
          </a:p>
        </p:txBody>
      </p:sp>
      <p:sp>
        <p:nvSpPr>
          <p:cNvPr id="8" name="Text 6"/>
          <p:cNvSpPr txBox="1"/>
          <p:nvPr/>
        </p:nvSpPr>
        <p:spPr>
          <a:xfrm>
            <a:off x="548640" y="3931920"/>
            <a:ext cx="5806440" cy="411480"/>
          </a:xfrm>
          <a:prstGeom prst="rect">
            <a:avLst/>
          </a:prstGeom>
          <a:noFill/>
          <a:ln/>
        </p:spPr>
        <p:txBody>
          <a:bodyPr wrap="square" lIns="0" tIns="0" rIns="0" bIns="0" rtlCol="0" anchor="ctr"/>
          <a:lstStyle/>
          <a:p>
            <a:pPr indent="0" marL="0">
              <a:buNone/>
            </a:pPr>
            <a:r>
              <a:rPr lang="en-US" sz="1400" b="1" dirty="0">
                <a:solidFill>
                  <a:schemeClr val="accent2"/>
                </a:solidFill>
              </a:rPr>
              <a:t>Experience   </a:t>
            </a:r>
            <a:pPr indent="0" marL="0">
              <a:buNone/>
            </a:pPr>
            <a:r>
              <a:rPr lang="en-US" sz="1400" dirty="0">
                <a:solidFill>
                  <a:schemeClr val="bg2"/>
                </a:solidFill>
              </a:rPr>
              <a:t>min(1, your years ÷ years needed)</a:t>
            </a:r>
            <a:endParaRPr lang="en-US" sz="1400" dirty="0"/>
          </a:p>
        </p:txBody>
      </p:sp>
      <p:sp>
        <p:nvSpPr>
          <p:cNvPr id="9" name="Text 7"/>
          <p:cNvSpPr txBox="1"/>
          <p:nvPr/>
        </p:nvSpPr>
        <p:spPr>
          <a:xfrm>
            <a:off x="548640" y="4480560"/>
            <a:ext cx="5806440" cy="411480"/>
          </a:xfrm>
          <a:prstGeom prst="rect">
            <a:avLst/>
          </a:prstGeom>
          <a:noFill/>
          <a:ln/>
        </p:spPr>
        <p:txBody>
          <a:bodyPr wrap="square" lIns="0" tIns="0" rIns="0" bIns="0" rtlCol="0" anchor="ctr"/>
          <a:lstStyle/>
          <a:p>
            <a:pPr indent="0" marL="0">
              <a:buNone/>
            </a:pPr>
            <a:r>
              <a:rPr lang="en-US" sz="1400" b="1" dirty="0">
                <a:solidFill>
                  <a:schemeClr val="accent2"/>
                </a:solidFill>
              </a:rPr>
              <a:t>Evidence   </a:t>
            </a:r>
            <a:pPr indent="0" marL="0">
              <a:buNone/>
            </a:pPr>
            <a:r>
              <a:rPr lang="en-US" sz="1400" dirty="0">
                <a:solidFill>
                  <a:schemeClr val="bg2"/>
                </a:solidFill>
              </a:rPr>
              <a:t>0.40 direct + 0.35 ownership + 0.25 verifiable</a:t>
            </a:r>
            <a:endParaRPr lang="en-US" sz="1400" dirty="0"/>
          </a:p>
        </p:txBody>
      </p:sp>
      <p:sp>
        <p:nvSpPr>
          <p:cNvPr id="10" name="Text 8"/>
          <p:cNvSpPr txBox="1"/>
          <p:nvPr/>
        </p:nvSpPr>
        <p:spPr>
          <a:xfrm>
            <a:off x="548640" y="5029200"/>
            <a:ext cx="5806440" cy="411480"/>
          </a:xfrm>
          <a:prstGeom prst="rect">
            <a:avLst/>
          </a:prstGeom>
          <a:noFill/>
          <a:ln/>
        </p:spPr>
        <p:txBody>
          <a:bodyPr wrap="square" lIns="0" tIns="0" rIns="0" bIns="0" rtlCol="0" anchor="ctr"/>
          <a:lstStyle/>
          <a:p>
            <a:pPr indent="0" marL="0">
              <a:buNone/>
            </a:pPr>
            <a:r>
              <a:rPr lang="en-US" sz="1400" b="1" dirty="0">
                <a:solidFill>
                  <a:schemeClr val="accent2"/>
                </a:solidFill>
              </a:rPr>
              <a:t>Education   </a:t>
            </a:r>
            <a:pPr indent="0" marL="0">
              <a:buNone/>
            </a:pPr>
            <a:r>
              <a:rPr lang="en-US" sz="1400" dirty="0">
                <a:solidFill>
                  <a:schemeClr val="bg2"/>
                </a:solidFill>
              </a:rPr>
              <a:t>weighted match of degree requirements</a:t>
            </a:r>
            <a:endParaRPr lang="en-US" sz="1400" dirty="0"/>
          </a:p>
        </p:txBody>
      </p:sp>
      <p:sp>
        <p:nvSpPr>
          <p:cNvPr id="11" name="Text 9"/>
          <p:cNvSpPr txBox="1"/>
          <p:nvPr/>
        </p:nvSpPr>
        <p:spPr>
          <a:xfrm>
            <a:off x="548640" y="5623560"/>
            <a:ext cx="5806440" cy="548640"/>
          </a:xfrm>
          <a:prstGeom prst="rect">
            <a:avLst/>
          </a:prstGeom>
          <a:noFill/>
          <a:ln/>
        </p:spPr>
        <p:txBody>
          <a:bodyPr wrap="square" lIns="0" tIns="0" rIns="0" bIns="0" rtlCol="0" anchor="ctr"/>
          <a:lstStyle/>
          <a:p>
            <a:pPr indent="0" marL="0">
              <a:buNone/>
            </a:pPr>
            <a:r>
              <a:rPr lang="en-US" sz="1200" i="1" dirty="0">
                <a:solidFill>
                  <a:schemeClr val="accent6"/>
                </a:solidFill>
              </a:rPr>
              <a:t>Eligibility (mandatory qualifications) is checked separately, so one gap is never hidden by other strengths.</a:t>
            </a:r>
            <a:endParaRPr lang="en-US" sz="1200" dirty="0"/>
          </a:p>
        </p:txBody>
      </p:sp>
      <p:graphicFrame>
        <p:nvGraphicFramePr>
          <p:cNvPr id="12" name="worked example chart" descr=""/>
          <p:cNvGraphicFramePr/>
          <p:nvPr/>
        </p:nvGraphicFramePr>
        <p:xfrm>
          <a:off x="6675120" y="132588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13" name="total callout"/>
          <p:cNvSpPr/>
          <p:nvPr/>
        </p:nvSpPr>
        <p:spPr>
          <a:xfrm>
            <a:off x="6675120" y="4892040"/>
            <a:ext cx="2194560" cy="1280160"/>
          </a:xfrm>
          <a:prstGeom prst="roundRect">
            <a:avLst>
              <a:gd name="adj" fmla="val 8571"/>
            </a:avLst>
          </a:prstGeom>
          <a:solidFill>
            <a:schemeClr val="tx2"/>
          </a:solidFill>
          <a:ln w="9525">
            <a:solidFill>
              <a:schemeClr val="tx2"/>
            </a:solidFill>
            <a:prstDash val="solid"/>
          </a:ln>
        </p:spPr>
      </p:sp>
      <p:sp>
        <p:nvSpPr>
          <p:cNvPr id="14" name="Text 11"/>
          <p:cNvSpPr txBox="1"/>
          <p:nvPr/>
        </p:nvSpPr>
        <p:spPr>
          <a:xfrm>
            <a:off x="6675120" y="4937760"/>
            <a:ext cx="2194560" cy="1188720"/>
          </a:xfrm>
          <a:prstGeom prst="rect">
            <a:avLst/>
          </a:prstGeom>
          <a:noFill/>
          <a:ln/>
        </p:spPr>
        <p:txBody>
          <a:bodyPr wrap="square" lIns="0" tIns="0" rIns="0" bIns="0" rtlCol="0" anchor="ctr"/>
          <a:lstStyle/>
          <a:p>
            <a:pPr algn="ctr" indent="0" marL="0">
              <a:buNone/>
            </a:pPr>
            <a:r>
              <a:rPr lang="en-US" sz="4000" b="1" dirty="0">
                <a:solidFill>
                  <a:schemeClr val="accent1"/>
                </a:solidFill>
              </a:rPr>
              <a:t>84</a:t>
            </a:r>
            <a:endParaRPr lang="en-US" sz="4000" dirty="0"/>
          </a:p>
          <a:p>
            <a:pPr algn="ctr" indent="0" marL="0">
              <a:buNone/>
            </a:pPr>
            <a:r>
              <a:rPr lang="en-US" sz="1200" dirty="0">
                <a:solidFill>
                  <a:schemeClr val="accent6"/>
                </a:solidFill>
              </a:rPr>
              <a:t>out of 100</a:t>
            </a:r>
            <a:endParaRPr lang="en-US" sz="4000" dirty="0"/>
          </a:p>
        </p:txBody>
      </p:sp>
      <p:sp>
        <p:nvSpPr>
          <p:cNvPr id="15" name="Text 12"/>
          <p:cNvSpPr txBox="1"/>
          <p:nvPr/>
        </p:nvSpPr>
        <p:spPr>
          <a:xfrm>
            <a:off x="9098280" y="4892040"/>
            <a:ext cx="2514600" cy="1325880"/>
          </a:xfrm>
          <a:prstGeom prst="rect">
            <a:avLst/>
          </a:prstGeom>
          <a:noFill/>
          <a:ln/>
        </p:spPr>
        <p:txBody>
          <a:bodyPr wrap="square" lIns="0" tIns="0" rIns="0" bIns="0" rtlCol="0" anchor="ctr"/>
          <a:lstStyle/>
          <a:p>
            <a:pPr indent="0" marL="0">
              <a:spcAft>
                <a:spcPts val="300"/>
              </a:spcAft>
              <a:buNone/>
            </a:pPr>
            <a:r>
              <a:rPr lang="en-US" sz="1200" b="1" dirty="0">
                <a:solidFill>
                  <a:schemeClr val="bg2"/>
                </a:solidFill>
              </a:rPr>
              <a:t>Switchable profiles</a:t>
            </a:r>
            <a:endParaRPr lang="en-US" sz="1200" dirty="0"/>
          </a:p>
          <a:p>
            <a:pPr indent="0" marL="0">
              <a:spcAft>
                <a:spcPts val="300"/>
              </a:spcAft>
              <a:buNone/>
            </a:pPr>
            <a:r>
              <a:rPr lang="en-US" sz="1200" dirty="0">
                <a:solidFill>
                  <a:schemeClr val="accent6"/>
                </a:solidFill>
              </a:rPr>
              <a:t>Standard, Skills-first, Credentials-first, Graduate. Weights are our own documented assumptions, not any company's formula.</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indent="0" marL="0">
              <a:buNone/>
            </a:pPr>
            <a:r>
              <a:rPr lang="en-US" sz="3200" b="1" dirty="0">
                <a:solidFill>
                  <a:schemeClr val="bg2"/>
                </a:solidFill>
                <a:latin typeface="Cambria" pitchFamily="34" charset="0"/>
                <a:ea typeface="Cambria" pitchFamily="34" charset="-122"/>
                <a:cs typeface="Cambria" pitchFamily="34" charset="-120"/>
              </a:rPr>
              <a:t>Built so the resume cannot lie, and measured</a:t>
            </a:r>
            <a:endParaRPr lang="en-US" sz="3200" dirty="0"/>
          </a:p>
        </p:txBody>
      </p:sp>
      <p:sp>
        <p:nvSpPr>
          <p:cNvPr id="3" name="guard 1 circle"/>
          <p:cNvSpPr/>
          <p:nvPr/>
        </p:nvSpPr>
        <p:spPr>
          <a:xfrm>
            <a:off x="548640" y="1508760"/>
            <a:ext cx="713232" cy="713232"/>
          </a:xfrm>
          <a:prstGeom prst="ellipse">
            <a:avLst/>
          </a:prstGeom>
          <a:solidFill>
            <a:schemeClr val="accent1"/>
          </a:solidFill>
          <a:ln w="6350">
            <a:solidFill>
              <a:schemeClr val="accent1"/>
            </a:solidFill>
            <a:prstDash val="solid"/>
          </a:ln>
        </p:spPr>
      </p:sp>
      <p:pic>
        <p:nvPicPr>
          <p:cNvPr id="4" name="guard 1 icon" descr="preencoded.png">    </p:cNvPr>
          <p:cNvPicPr>
            <a:picLocks noChangeAspect="1"/>
          </p:cNvPicPr>
          <p:nvPr/>
        </p:nvPicPr>
        <p:blipFill>
          <a:blip r:embed="rId1"/>
          <a:stretch>
            <a:fillRect/>
          </a:stretch>
        </p:blipFill>
        <p:spPr>
          <a:xfrm>
            <a:off x="726948" y="1687068"/>
            <a:ext cx="356616" cy="356616"/>
          </a:xfrm>
          <a:prstGeom prst="rect">
            <a:avLst/>
          </a:prstGeom>
        </p:spPr>
      </p:pic>
      <p:sp>
        <p:nvSpPr>
          <p:cNvPr id="5" name="Text 2"/>
          <p:cNvSpPr txBox="1"/>
          <p:nvPr/>
        </p:nvSpPr>
        <p:spPr>
          <a:xfrm>
            <a:off x="1463040" y="1417320"/>
            <a:ext cx="4480560" cy="914400"/>
          </a:xfrm>
          <a:prstGeom prst="rect">
            <a:avLst/>
          </a:prstGeom>
          <a:noFill/>
          <a:ln/>
        </p:spPr>
        <p:txBody>
          <a:bodyPr wrap="square" lIns="0" tIns="0" rIns="0" bIns="0" rtlCol="0" anchor="ctr"/>
          <a:lstStyle/>
          <a:p>
            <a:pPr indent="0" marL="0">
              <a:spcAft>
                <a:spcPts val="200"/>
              </a:spcAft>
              <a:buNone/>
            </a:pPr>
            <a:r>
              <a:rPr lang="en-US" sz="1800" b="1" dirty="0">
                <a:solidFill>
                  <a:schemeClr val="bg2"/>
                </a:solidFill>
              </a:rPr>
              <a:t>Every fact has a quote</a:t>
            </a:r>
            <a:endParaRPr lang="en-US" sz="1800" dirty="0"/>
          </a:p>
          <a:p>
            <a:pPr indent="0" marL="0">
              <a:spcAft>
                <a:spcPts val="200"/>
              </a:spcAft>
              <a:buNone/>
            </a:pPr>
            <a:r>
              <a:rPr lang="en-US" sz="1400" dirty="0">
                <a:solidFill>
                  <a:schemeClr val="accent6"/>
                </a:solidFill>
              </a:rPr>
              <a:t>No quote in your file, no fact in the ledger.</a:t>
            </a:r>
            <a:endParaRPr lang="en-US" sz="1800" dirty="0"/>
          </a:p>
        </p:txBody>
      </p:sp>
      <p:sp>
        <p:nvSpPr>
          <p:cNvPr id="6" name="guard 2 circle"/>
          <p:cNvSpPr/>
          <p:nvPr/>
        </p:nvSpPr>
        <p:spPr>
          <a:xfrm>
            <a:off x="548640" y="2624328"/>
            <a:ext cx="713232" cy="713232"/>
          </a:xfrm>
          <a:prstGeom prst="ellipse">
            <a:avLst/>
          </a:prstGeom>
          <a:solidFill>
            <a:schemeClr val="accent1"/>
          </a:solidFill>
          <a:ln w="6350">
            <a:solidFill>
              <a:schemeClr val="accent1"/>
            </a:solidFill>
            <a:prstDash val="solid"/>
          </a:ln>
        </p:spPr>
      </p:sp>
      <p:pic>
        <p:nvPicPr>
          <p:cNvPr id="7" name="guard 2 icon" descr="preencoded.png">    </p:cNvPr>
          <p:cNvPicPr>
            <a:picLocks noChangeAspect="1"/>
          </p:cNvPicPr>
          <p:nvPr/>
        </p:nvPicPr>
        <p:blipFill>
          <a:blip r:embed="rId2"/>
          <a:stretch>
            <a:fillRect/>
          </a:stretch>
        </p:blipFill>
        <p:spPr>
          <a:xfrm>
            <a:off x="726948" y="2802636"/>
            <a:ext cx="356616" cy="356616"/>
          </a:xfrm>
          <a:prstGeom prst="rect">
            <a:avLst/>
          </a:prstGeom>
        </p:spPr>
      </p:pic>
      <p:sp>
        <p:nvSpPr>
          <p:cNvPr id="8" name="Text 4"/>
          <p:cNvSpPr txBox="1"/>
          <p:nvPr/>
        </p:nvSpPr>
        <p:spPr>
          <a:xfrm>
            <a:off x="1463040" y="2532888"/>
            <a:ext cx="4480560" cy="914400"/>
          </a:xfrm>
          <a:prstGeom prst="rect">
            <a:avLst/>
          </a:prstGeom>
          <a:noFill/>
          <a:ln/>
        </p:spPr>
        <p:txBody>
          <a:bodyPr wrap="square" lIns="0" tIns="0" rIns="0" bIns="0" rtlCol="0" anchor="ctr"/>
          <a:lstStyle/>
          <a:p>
            <a:pPr indent="0" marL="0">
              <a:spcAft>
                <a:spcPts val="200"/>
              </a:spcAft>
              <a:buNone/>
            </a:pPr>
            <a:r>
              <a:rPr lang="en-US" sz="1800" b="1" dirty="0">
                <a:solidFill>
                  <a:schemeClr val="bg2"/>
                </a:solidFill>
              </a:rPr>
              <a:t>The Verifier checks every bullet</a:t>
            </a:r>
            <a:endParaRPr lang="en-US" sz="1800" dirty="0"/>
          </a:p>
          <a:p>
            <a:pPr indent="0" marL="0">
              <a:spcAft>
                <a:spcPts val="200"/>
              </a:spcAft>
              <a:buNone/>
            </a:pPr>
            <a:r>
              <a:rPr lang="en-US" sz="1400" dirty="0">
                <a:solidFill>
                  <a:schemeClr val="accent6"/>
                </a:solidFill>
              </a:rPr>
              <a:t>Wrong numbers, unused tools and boasts are rejected.</a:t>
            </a:r>
            <a:endParaRPr lang="en-US" sz="1800" dirty="0"/>
          </a:p>
        </p:txBody>
      </p:sp>
      <p:sp>
        <p:nvSpPr>
          <p:cNvPr id="9" name="guard 3 circle"/>
          <p:cNvSpPr/>
          <p:nvPr/>
        </p:nvSpPr>
        <p:spPr>
          <a:xfrm>
            <a:off x="548640" y="3739896"/>
            <a:ext cx="713232" cy="713232"/>
          </a:xfrm>
          <a:prstGeom prst="ellipse">
            <a:avLst/>
          </a:prstGeom>
          <a:solidFill>
            <a:schemeClr val="accent1"/>
          </a:solidFill>
          <a:ln w="6350">
            <a:solidFill>
              <a:schemeClr val="accent1"/>
            </a:solidFill>
            <a:prstDash val="solid"/>
          </a:ln>
        </p:spPr>
      </p:sp>
      <p:pic>
        <p:nvPicPr>
          <p:cNvPr id="10" name="guard 3 icon" descr="preencoded.png">    </p:cNvPr>
          <p:cNvPicPr>
            <a:picLocks noChangeAspect="1"/>
          </p:cNvPicPr>
          <p:nvPr/>
        </p:nvPicPr>
        <p:blipFill>
          <a:blip r:embed="rId3"/>
          <a:stretch>
            <a:fillRect/>
          </a:stretch>
        </p:blipFill>
        <p:spPr>
          <a:xfrm>
            <a:off x="726948" y="3918204"/>
            <a:ext cx="356616" cy="356616"/>
          </a:xfrm>
          <a:prstGeom prst="rect">
            <a:avLst/>
          </a:prstGeom>
        </p:spPr>
      </p:pic>
      <p:sp>
        <p:nvSpPr>
          <p:cNvPr id="11" name="Text 6"/>
          <p:cNvSpPr txBox="1"/>
          <p:nvPr/>
        </p:nvSpPr>
        <p:spPr>
          <a:xfrm>
            <a:off x="1463040" y="3648456"/>
            <a:ext cx="4480560" cy="914400"/>
          </a:xfrm>
          <a:prstGeom prst="rect">
            <a:avLst/>
          </a:prstGeom>
          <a:noFill/>
          <a:ln/>
        </p:spPr>
        <p:txBody>
          <a:bodyPr wrap="square" lIns="0" tIns="0" rIns="0" bIns="0" rtlCol="0" anchor="ctr"/>
          <a:lstStyle/>
          <a:p>
            <a:pPr indent="0" marL="0">
              <a:spcAft>
                <a:spcPts val="200"/>
              </a:spcAft>
              <a:buNone/>
            </a:pPr>
            <a:r>
              <a:rPr lang="en-US" sz="1800" b="1" dirty="0">
                <a:solidFill>
                  <a:schemeClr val="bg2"/>
                </a:solidFill>
              </a:rPr>
              <a:t>The same score every time</a:t>
            </a:r>
            <a:endParaRPr lang="en-US" sz="1800" dirty="0"/>
          </a:p>
          <a:p>
            <a:pPr indent="0" marL="0">
              <a:spcAft>
                <a:spcPts val="200"/>
              </a:spcAft>
              <a:buNone/>
            </a:pPr>
            <a:r>
              <a:rPr lang="en-US" sz="1400" dirty="0">
                <a:solidFill>
                  <a:schemeClr val="accent6"/>
                </a:solidFill>
              </a:rPr>
              <a:t>Scoring is plain code, never an AI guess.</a:t>
            </a:r>
            <a:endParaRPr lang="en-US" sz="1800" dirty="0"/>
          </a:p>
        </p:txBody>
      </p:sp>
      <p:sp>
        <p:nvSpPr>
          <p:cNvPr id="12" name="guard 4 circle"/>
          <p:cNvSpPr/>
          <p:nvPr/>
        </p:nvSpPr>
        <p:spPr>
          <a:xfrm>
            <a:off x="548640" y="4855464"/>
            <a:ext cx="713232" cy="713232"/>
          </a:xfrm>
          <a:prstGeom prst="ellipse">
            <a:avLst/>
          </a:prstGeom>
          <a:solidFill>
            <a:schemeClr val="accent1"/>
          </a:solidFill>
          <a:ln w="6350">
            <a:solidFill>
              <a:schemeClr val="accent1"/>
            </a:solidFill>
            <a:prstDash val="solid"/>
          </a:ln>
        </p:spPr>
      </p:sp>
      <p:pic>
        <p:nvPicPr>
          <p:cNvPr id="13" name="guard 4 icon" descr="preencoded.png">    </p:cNvPr>
          <p:cNvPicPr>
            <a:picLocks noChangeAspect="1"/>
          </p:cNvPicPr>
          <p:nvPr/>
        </p:nvPicPr>
        <p:blipFill>
          <a:blip r:embed="rId4"/>
          <a:stretch>
            <a:fillRect/>
          </a:stretch>
        </p:blipFill>
        <p:spPr>
          <a:xfrm>
            <a:off x="726948" y="5033772"/>
            <a:ext cx="356616" cy="356616"/>
          </a:xfrm>
          <a:prstGeom prst="rect">
            <a:avLst/>
          </a:prstGeom>
        </p:spPr>
      </p:pic>
      <p:sp>
        <p:nvSpPr>
          <p:cNvPr id="14" name="Text 8"/>
          <p:cNvSpPr txBox="1"/>
          <p:nvPr/>
        </p:nvSpPr>
        <p:spPr>
          <a:xfrm>
            <a:off x="1463040" y="4764024"/>
            <a:ext cx="4480560" cy="914400"/>
          </a:xfrm>
          <a:prstGeom prst="rect">
            <a:avLst/>
          </a:prstGeom>
          <a:noFill/>
          <a:ln/>
        </p:spPr>
        <p:txBody>
          <a:bodyPr wrap="square" lIns="0" tIns="0" rIns="0" bIns="0" rtlCol="0" anchor="ctr"/>
          <a:lstStyle/>
          <a:p>
            <a:pPr indent="0" marL="0">
              <a:spcAft>
                <a:spcPts val="200"/>
              </a:spcAft>
              <a:buNone/>
            </a:pPr>
            <a:r>
              <a:rPr lang="en-US" sz="1800" b="1" dirty="0">
                <a:solidFill>
                  <a:schemeClr val="bg2"/>
                </a:solidFill>
              </a:rPr>
              <a:t>Your data stays yours</a:t>
            </a:r>
            <a:endParaRPr lang="en-US" sz="1800" dirty="0"/>
          </a:p>
          <a:p>
            <a:pPr indent="0" marL="0">
              <a:spcAft>
                <a:spcPts val="200"/>
              </a:spcAft>
              <a:buNone/>
            </a:pPr>
            <a:r>
              <a:rPr lang="en-US" sz="1400" dirty="0">
                <a:solidFill>
                  <a:schemeClr val="accent6"/>
                </a:solidFill>
              </a:rPr>
              <a:t>Separate accounts; other users get “not found”.</a:t>
            </a:r>
            <a:endParaRPr lang="en-US" sz="1800" dirty="0"/>
          </a:p>
        </p:txBody>
      </p:sp>
      <p:sp>
        <p:nvSpPr>
          <p:cNvPr id="15" name="stat 1"/>
          <p:cNvSpPr/>
          <p:nvPr/>
        </p:nvSpPr>
        <p:spPr>
          <a:xfrm>
            <a:off x="6400800" y="1417320"/>
            <a:ext cx="2487168" cy="1783080"/>
          </a:xfrm>
          <a:prstGeom prst="roundRect">
            <a:avLst>
              <a:gd name="adj" fmla="val 6154"/>
            </a:avLst>
          </a:prstGeom>
          <a:solidFill>
            <a:schemeClr val="tx2"/>
          </a:solidFill>
          <a:ln w="9525">
            <a:solidFill>
              <a:schemeClr val="tx2"/>
            </a:solidFill>
            <a:prstDash val="solid"/>
          </a:ln>
        </p:spPr>
      </p:sp>
      <p:sp>
        <p:nvSpPr>
          <p:cNvPr id="16" name="Text 10"/>
          <p:cNvSpPr txBox="1"/>
          <p:nvPr/>
        </p:nvSpPr>
        <p:spPr>
          <a:xfrm>
            <a:off x="6583680" y="1554480"/>
            <a:ext cx="2148840" cy="1508760"/>
          </a:xfrm>
          <a:prstGeom prst="rect">
            <a:avLst/>
          </a:prstGeom>
          <a:noFill/>
          <a:ln/>
        </p:spPr>
        <p:txBody>
          <a:bodyPr wrap="square" lIns="0" tIns="0" rIns="0" bIns="0" rtlCol="0" anchor="ctr"/>
          <a:lstStyle/>
          <a:p>
            <a:pPr indent="0" marL="0">
              <a:spcAft>
                <a:spcPts val="400"/>
              </a:spcAft>
              <a:buNone/>
            </a:pPr>
            <a:r>
              <a:rPr lang="en-US" sz="3600" b="1" dirty="0">
                <a:solidFill>
                  <a:schemeClr val="accent1"/>
                </a:solidFill>
              </a:rPr>
              <a:t>32 / 32</a:t>
            </a:r>
            <a:endParaRPr lang="en-US" sz="3600" dirty="0"/>
          </a:p>
          <a:p>
            <a:pPr indent="0" marL="0">
              <a:spcAft>
                <a:spcPts val="400"/>
              </a:spcAft>
              <a:buNone/>
            </a:pPr>
            <a:r>
              <a:rPr lang="en-US" sz="1300" dirty="0">
                <a:solidFill>
                  <a:schemeClr val="bg2"/>
                </a:solidFill>
              </a:rPr>
              <a:t>fabricated claims blocked by the Verifier</a:t>
            </a:r>
            <a:endParaRPr lang="en-US" sz="3600" dirty="0"/>
          </a:p>
        </p:txBody>
      </p:sp>
      <p:sp>
        <p:nvSpPr>
          <p:cNvPr id="17" name="stat 2"/>
          <p:cNvSpPr/>
          <p:nvPr/>
        </p:nvSpPr>
        <p:spPr>
          <a:xfrm>
            <a:off x="9070848" y="1417320"/>
            <a:ext cx="2487168" cy="1783080"/>
          </a:xfrm>
          <a:prstGeom prst="roundRect">
            <a:avLst>
              <a:gd name="adj" fmla="val 6154"/>
            </a:avLst>
          </a:prstGeom>
          <a:solidFill>
            <a:schemeClr val="tx2"/>
          </a:solidFill>
          <a:ln w="9525">
            <a:solidFill>
              <a:schemeClr val="tx2"/>
            </a:solidFill>
            <a:prstDash val="solid"/>
          </a:ln>
        </p:spPr>
      </p:sp>
      <p:sp>
        <p:nvSpPr>
          <p:cNvPr id="18" name="Text 12"/>
          <p:cNvSpPr txBox="1"/>
          <p:nvPr/>
        </p:nvSpPr>
        <p:spPr>
          <a:xfrm>
            <a:off x="9253728" y="1554480"/>
            <a:ext cx="2148840" cy="1508760"/>
          </a:xfrm>
          <a:prstGeom prst="rect">
            <a:avLst/>
          </a:prstGeom>
          <a:noFill/>
          <a:ln/>
        </p:spPr>
        <p:txBody>
          <a:bodyPr wrap="square" lIns="0" tIns="0" rIns="0" bIns="0" rtlCol="0" anchor="ctr"/>
          <a:lstStyle/>
          <a:p>
            <a:pPr indent="0" marL="0">
              <a:spcAft>
                <a:spcPts val="400"/>
              </a:spcAft>
              <a:buNone/>
            </a:pPr>
            <a:r>
              <a:rPr lang="en-US" sz="3600" b="1" dirty="0">
                <a:solidFill>
                  <a:schemeClr val="accent1"/>
                </a:solidFill>
              </a:rPr>
              <a:t>1 score</a:t>
            </a:r>
            <a:endParaRPr lang="en-US" sz="3600" dirty="0"/>
          </a:p>
          <a:p>
            <a:pPr indent="0" marL="0">
              <a:spcAft>
                <a:spcPts val="400"/>
              </a:spcAft>
              <a:buNone/>
            </a:pPr>
            <a:r>
              <a:rPr lang="en-US" sz="1300" dirty="0">
                <a:solidFill>
                  <a:schemeClr val="bg2"/>
                </a:solidFill>
              </a:rPr>
              <a:t>across 30 runs with shuffled input</a:t>
            </a:r>
            <a:endParaRPr lang="en-US" sz="3600" dirty="0"/>
          </a:p>
        </p:txBody>
      </p:sp>
      <p:sp>
        <p:nvSpPr>
          <p:cNvPr id="19" name="stat 3"/>
          <p:cNvSpPr/>
          <p:nvPr/>
        </p:nvSpPr>
        <p:spPr>
          <a:xfrm>
            <a:off x="6400800" y="3383280"/>
            <a:ext cx="2487168" cy="1783080"/>
          </a:xfrm>
          <a:prstGeom prst="roundRect">
            <a:avLst>
              <a:gd name="adj" fmla="val 6154"/>
            </a:avLst>
          </a:prstGeom>
          <a:solidFill>
            <a:schemeClr val="tx2"/>
          </a:solidFill>
          <a:ln w="9525">
            <a:solidFill>
              <a:schemeClr val="tx2"/>
            </a:solidFill>
            <a:prstDash val="solid"/>
          </a:ln>
        </p:spPr>
      </p:sp>
      <p:sp>
        <p:nvSpPr>
          <p:cNvPr id="20" name="Text 14"/>
          <p:cNvSpPr txBox="1"/>
          <p:nvPr/>
        </p:nvSpPr>
        <p:spPr>
          <a:xfrm>
            <a:off x="6583680" y="3520440"/>
            <a:ext cx="2148840" cy="1508760"/>
          </a:xfrm>
          <a:prstGeom prst="rect">
            <a:avLst/>
          </a:prstGeom>
          <a:noFill/>
          <a:ln/>
        </p:spPr>
        <p:txBody>
          <a:bodyPr wrap="square" lIns="0" tIns="0" rIns="0" bIns="0" rtlCol="0" anchor="ctr"/>
          <a:lstStyle/>
          <a:p>
            <a:pPr indent="0" marL="0">
              <a:spcAft>
                <a:spcPts val="400"/>
              </a:spcAft>
              <a:buNone/>
            </a:pPr>
            <a:r>
              <a:rPr lang="en-US" sz="3600" b="1" dirty="0">
                <a:solidFill>
                  <a:schemeClr val="accent1"/>
                </a:solidFill>
              </a:rPr>
              <a:t>100%</a:t>
            </a:r>
            <a:endParaRPr lang="en-US" sz="3600" dirty="0"/>
          </a:p>
          <a:p>
            <a:pPr indent="0" marL="0">
              <a:spcAft>
                <a:spcPts val="400"/>
              </a:spcAft>
              <a:buNone/>
            </a:pPr>
            <a:r>
              <a:rPr lang="en-US" sz="1300" dirty="0">
                <a:solidFill>
                  <a:schemeClr val="bg2"/>
                </a:solidFill>
              </a:rPr>
              <a:t>of extracted quotes found word for word</a:t>
            </a:r>
            <a:endParaRPr lang="en-US" sz="3600" dirty="0"/>
          </a:p>
        </p:txBody>
      </p:sp>
      <p:sp>
        <p:nvSpPr>
          <p:cNvPr id="21" name="stat 4"/>
          <p:cNvSpPr/>
          <p:nvPr/>
        </p:nvSpPr>
        <p:spPr>
          <a:xfrm>
            <a:off x="9070848" y="3383280"/>
            <a:ext cx="2487168" cy="1783080"/>
          </a:xfrm>
          <a:prstGeom prst="roundRect">
            <a:avLst>
              <a:gd name="adj" fmla="val 6154"/>
            </a:avLst>
          </a:prstGeom>
          <a:solidFill>
            <a:schemeClr val="tx2"/>
          </a:solidFill>
          <a:ln w="9525">
            <a:solidFill>
              <a:schemeClr val="tx2"/>
            </a:solidFill>
            <a:prstDash val="solid"/>
          </a:ln>
        </p:spPr>
      </p:sp>
      <p:sp>
        <p:nvSpPr>
          <p:cNvPr id="22" name="Text 16"/>
          <p:cNvSpPr txBox="1"/>
          <p:nvPr/>
        </p:nvSpPr>
        <p:spPr>
          <a:xfrm>
            <a:off x="9253728" y="3520440"/>
            <a:ext cx="2148840" cy="1508760"/>
          </a:xfrm>
          <a:prstGeom prst="rect">
            <a:avLst/>
          </a:prstGeom>
          <a:noFill/>
          <a:ln/>
        </p:spPr>
        <p:txBody>
          <a:bodyPr wrap="square" lIns="0" tIns="0" rIns="0" bIns="0" rtlCol="0" anchor="ctr"/>
          <a:lstStyle/>
          <a:p>
            <a:pPr indent="0" marL="0">
              <a:spcAft>
                <a:spcPts val="400"/>
              </a:spcAft>
              <a:buNone/>
            </a:pPr>
            <a:r>
              <a:rPr lang="en-US" sz="3600" b="1" dirty="0">
                <a:solidFill>
                  <a:schemeClr val="accent1"/>
                </a:solidFill>
              </a:rPr>
              <a:t>1.00</a:t>
            </a:r>
            <a:endParaRPr lang="en-US" sz="3600" dirty="0"/>
          </a:p>
          <a:p>
            <a:pPr indent="0" marL="0">
              <a:spcAft>
                <a:spcPts val="400"/>
              </a:spcAft>
              <a:buNone/>
            </a:pPr>
            <a:r>
              <a:rPr lang="en-US" sz="1300" dirty="0">
                <a:solidFill>
                  <a:schemeClr val="bg2"/>
                </a:solidFill>
              </a:rPr>
              <a:t>NDCG@3 for project ranking</a:t>
            </a:r>
            <a:endParaRPr lang="en-US" sz="3600" dirty="0"/>
          </a:p>
        </p:txBody>
      </p:sp>
      <p:sp>
        <p:nvSpPr>
          <p:cNvPr id="23" name="Text 17"/>
          <p:cNvSpPr txBox="1"/>
          <p:nvPr/>
        </p:nvSpPr>
        <p:spPr>
          <a:xfrm>
            <a:off x="6400800" y="5486400"/>
            <a:ext cx="5212080" cy="548640"/>
          </a:xfrm>
          <a:prstGeom prst="rect">
            <a:avLst/>
          </a:prstGeom>
          <a:noFill/>
          <a:ln/>
        </p:spPr>
        <p:txBody>
          <a:bodyPr wrap="square" lIns="0" tIns="0" rIns="0" bIns="0" rtlCol="0" anchor="ctr"/>
          <a:lstStyle/>
          <a:p>
            <a:pPr indent="0" marL="0">
              <a:buNone/>
            </a:pPr>
            <a:r>
              <a:rPr lang="en-US" sz="1200" i="1" dirty="0">
                <a:solidFill>
                  <a:schemeClr val="accent6"/>
                </a:solidFill>
              </a:rPr>
              <a:t>Measured on our small synthetic test set. Validating on real, labelled resumes is the next step.</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indent="0" marL="0">
              <a:buNone/>
            </a:pPr>
            <a:r>
              <a:rPr lang="en-US" sz="3200" b="1" dirty="0">
                <a:solidFill>
                  <a:schemeClr val="bg2"/>
                </a:solidFill>
                <a:latin typeface="Cambria" pitchFamily="34" charset="0"/>
                <a:ea typeface="Cambria" pitchFamily="34" charset="-122"/>
                <a:cs typeface="Cambria" pitchFamily="34" charset="-120"/>
              </a:rPr>
              <a:t>Future scope</a:t>
            </a:r>
            <a:endParaRPr lang="en-US" sz="3200" dirty="0"/>
          </a:p>
        </p:txBody>
      </p:sp>
      <p:sp>
        <p:nvSpPr>
          <p:cNvPr id="3" name="Text 1"/>
          <p:cNvSpPr txBox="1"/>
          <p:nvPr/>
        </p:nvSpPr>
        <p:spPr>
          <a:xfrm>
            <a:off x="548640" y="1371600"/>
            <a:ext cx="539496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  ·  NEAR TERM</a:t>
            </a:r>
            <a:endParaRPr lang="en-US" sz="1200" dirty="0"/>
          </a:p>
        </p:txBody>
      </p:sp>
      <p:sp>
        <p:nvSpPr>
          <p:cNvPr id="4" name="future Real evaluation"/>
          <p:cNvSpPr/>
          <p:nvPr/>
        </p:nvSpPr>
        <p:spPr>
          <a:xfrm>
            <a:off x="548640" y="1783080"/>
            <a:ext cx="5394960" cy="1188720"/>
          </a:xfrm>
          <a:prstGeom prst="roundRect">
            <a:avLst>
              <a:gd name="adj" fmla="val 9231"/>
            </a:avLst>
          </a:prstGeom>
          <a:solidFill>
            <a:schemeClr val="tx2"/>
          </a:solidFill>
          <a:ln w="9525">
            <a:solidFill>
              <a:schemeClr val="tx2"/>
            </a:solidFill>
            <a:prstDash val="solid"/>
          </a:ln>
        </p:spPr>
      </p:sp>
      <p:sp>
        <p:nvSpPr>
          <p:cNvPr id="5" name="future Real evaluation circle"/>
          <p:cNvSpPr/>
          <p:nvPr/>
        </p:nvSpPr>
        <p:spPr>
          <a:xfrm>
            <a:off x="777240" y="2029968"/>
            <a:ext cx="694944" cy="694944"/>
          </a:xfrm>
          <a:prstGeom prst="ellipse">
            <a:avLst/>
          </a:prstGeom>
          <a:solidFill>
            <a:schemeClr val="accent1"/>
          </a:solidFill>
          <a:ln w="6350">
            <a:solidFill>
              <a:schemeClr val="accent1"/>
            </a:solidFill>
            <a:prstDash val="solid"/>
          </a:ln>
        </p:spPr>
      </p:sp>
      <p:pic>
        <p:nvPicPr>
          <p:cNvPr id="6" name="future Real evaluation icon" descr="preencoded.png">    </p:cNvPr>
          <p:cNvPicPr>
            <a:picLocks noChangeAspect="1"/>
          </p:cNvPicPr>
          <p:nvPr/>
        </p:nvPicPr>
        <p:blipFill>
          <a:blip r:embed="rId1"/>
          <a:stretch>
            <a:fillRect/>
          </a:stretch>
        </p:blipFill>
        <p:spPr>
          <a:xfrm>
            <a:off x="950976" y="2203704"/>
            <a:ext cx="347472" cy="347472"/>
          </a:xfrm>
          <a:prstGeom prst="rect">
            <a:avLst/>
          </a:prstGeom>
        </p:spPr>
      </p:pic>
      <p:sp>
        <p:nvSpPr>
          <p:cNvPr id="7" name="Text 4"/>
          <p:cNvSpPr txBox="1"/>
          <p:nvPr/>
        </p:nvSpPr>
        <p:spPr>
          <a:xfrm>
            <a:off x="1691640" y="1892808"/>
            <a:ext cx="4114800" cy="969264"/>
          </a:xfrm>
          <a:prstGeom prst="rect">
            <a:avLst/>
          </a:prstGeom>
          <a:noFill/>
          <a:ln/>
        </p:spPr>
        <p:txBody>
          <a:bodyPr wrap="square" lIns="0" tIns="0" rIns="0" bIns="0" rtlCol="0" anchor="ctr"/>
          <a:lstStyle/>
          <a:p>
            <a:pPr indent="0" marL="0">
              <a:spcAft>
                <a:spcPts val="300"/>
              </a:spcAft>
              <a:buNone/>
            </a:pPr>
            <a:r>
              <a:rPr lang="en-US" sz="1800" b="1" dirty="0">
                <a:solidFill>
                  <a:schemeClr val="bg2"/>
                </a:solidFill>
              </a:rPr>
              <a:t>Real evaluation</a:t>
            </a:r>
            <a:endParaRPr lang="en-US" sz="1800" dirty="0"/>
          </a:p>
          <a:p>
            <a:pPr indent="0" marL="0">
              <a:spcAft>
                <a:spcPts val="300"/>
              </a:spcAft>
              <a:buNone/>
            </a:pPr>
            <a:r>
              <a:rPr lang="en-US" sz="1300" dirty="0">
                <a:solidFill>
                  <a:schemeClr val="accent6"/>
                </a:solidFill>
              </a:rPr>
              <a:t>Labelled resumes and jobs to validate the scoring weights, then learn them from data</a:t>
            </a:r>
            <a:endParaRPr lang="en-US" sz="1800" dirty="0"/>
          </a:p>
        </p:txBody>
      </p:sp>
      <p:sp>
        <p:nvSpPr>
          <p:cNvPr id="8" name="future Job-link reader tool"/>
          <p:cNvSpPr/>
          <p:nvPr/>
        </p:nvSpPr>
        <p:spPr>
          <a:xfrm>
            <a:off x="548640" y="3154680"/>
            <a:ext cx="5394960" cy="1188720"/>
          </a:xfrm>
          <a:prstGeom prst="roundRect">
            <a:avLst>
              <a:gd name="adj" fmla="val 9231"/>
            </a:avLst>
          </a:prstGeom>
          <a:solidFill>
            <a:schemeClr val="tx2"/>
          </a:solidFill>
          <a:ln w="9525">
            <a:solidFill>
              <a:schemeClr val="tx2"/>
            </a:solidFill>
            <a:prstDash val="solid"/>
          </a:ln>
        </p:spPr>
      </p:sp>
      <p:sp>
        <p:nvSpPr>
          <p:cNvPr id="9" name="future Job-link reader tool circle"/>
          <p:cNvSpPr/>
          <p:nvPr/>
        </p:nvSpPr>
        <p:spPr>
          <a:xfrm>
            <a:off x="777240" y="3401568"/>
            <a:ext cx="694944" cy="694944"/>
          </a:xfrm>
          <a:prstGeom prst="ellipse">
            <a:avLst/>
          </a:prstGeom>
          <a:solidFill>
            <a:schemeClr val="accent1"/>
          </a:solidFill>
          <a:ln w="6350">
            <a:solidFill>
              <a:schemeClr val="accent1"/>
            </a:solidFill>
            <a:prstDash val="solid"/>
          </a:ln>
        </p:spPr>
      </p:sp>
      <p:pic>
        <p:nvPicPr>
          <p:cNvPr id="10" name="future Job-link reader tool icon" descr="preencoded.png">    </p:cNvPr>
          <p:cNvPicPr>
            <a:picLocks noChangeAspect="1"/>
          </p:cNvPicPr>
          <p:nvPr/>
        </p:nvPicPr>
        <p:blipFill>
          <a:blip r:embed="rId2"/>
          <a:stretch>
            <a:fillRect/>
          </a:stretch>
        </p:blipFill>
        <p:spPr>
          <a:xfrm>
            <a:off x="950976" y="3575304"/>
            <a:ext cx="347472" cy="347472"/>
          </a:xfrm>
          <a:prstGeom prst="rect">
            <a:avLst/>
          </a:prstGeom>
        </p:spPr>
      </p:pic>
      <p:sp>
        <p:nvSpPr>
          <p:cNvPr id="11" name="Text 7"/>
          <p:cNvSpPr txBox="1"/>
          <p:nvPr/>
        </p:nvSpPr>
        <p:spPr>
          <a:xfrm>
            <a:off x="1691640" y="3264408"/>
            <a:ext cx="4114800" cy="969264"/>
          </a:xfrm>
          <a:prstGeom prst="rect">
            <a:avLst/>
          </a:prstGeom>
          <a:noFill/>
          <a:ln/>
        </p:spPr>
        <p:txBody>
          <a:bodyPr wrap="square" lIns="0" tIns="0" rIns="0" bIns="0" rtlCol="0" anchor="ctr"/>
          <a:lstStyle/>
          <a:p>
            <a:pPr indent="0" marL="0">
              <a:spcAft>
                <a:spcPts val="300"/>
              </a:spcAft>
              <a:buNone/>
            </a:pPr>
            <a:r>
              <a:rPr lang="en-US" sz="1800" b="1" dirty="0">
                <a:solidFill>
                  <a:schemeClr val="bg2"/>
                </a:solidFill>
              </a:rPr>
              <a:t>Job-link reader tool</a:t>
            </a:r>
            <a:endParaRPr lang="en-US" sz="1800" dirty="0"/>
          </a:p>
          <a:p>
            <a:pPr indent="0" marL="0">
              <a:spcAft>
                <a:spcPts val="300"/>
              </a:spcAft>
              <a:buNone/>
            </a:pPr>
            <a:r>
              <a:rPr lang="en-US" sz="1300" dirty="0">
                <a:solidFill>
                  <a:schemeClr val="accent6"/>
                </a:solidFill>
              </a:rPr>
              <a:t>Agents fetch and read a job posting straight from its URL</a:t>
            </a:r>
            <a:endParaRPr lang="en-US" sz="1800" dirty="0"/>
          </a:p>
        </p:txBody>
      </p:sp>
      <p:sp>
        <p:nvSpPr>
          <p:cNvPr id="12" name="future Cloud deployment"/>
          <p:cNvSpPr/>
          <p:nvPr/>
        </p:nvSpPr>
        <p:spPr>
          <a:xfrm>
            <a:off x="548640" y="4526280"/>
            <a:ext cx="5394960" cy="1188720"/>
          </a:xfrm>
          <a:prstGeom prst="roundRect">
            <a:avLst>
              <a:gd name="adj" fmla="val 9231"/>
            </a:avLst>
          </a:prstGeom>
          <a:solidFill>
            <a:schemeClr val="tx2"/>
          </a:solidFill>
          <a:ln w="9525">
            <a:solidFill>
              <a:schemeClr val="tx2"/>
            </a:solidFill>
            <a:prstDash val="solid"/>
          </a:ln>
        </p:spPr>
      </p:sp>
      <p:sp>
        <p:nvSpPr>
          <p:cNvPr id="13" name="future Cloud deployment circle"/>
          <p:cNvSpPr/>
          <p:nvPr/>
        </p:nvSpPr>
        <p:spPr>
          <a:xfrm>
            <a:off x="777240" y="4773168"/>
            <a:ext cx="694944" cy="694944"/>
          </a:xfrm>
          <a:prstGeom prst="ellipse">
            <a:avLst/>
          </a:prstGeom>
          <a:solidFill>
            <a:schemeClr val="accent1"/>
          </a:solidFill>
          <a:ln w="6350">
            <a:solidFill>
              <a:schemeClr val="accent1"/>
            </a:solidFill>
            <a:prstDash val="solid"/>
          </a:ln>
        </p:spPr>
      </p:sp>
      <p:pic>
        <p:nvPicPr>
          <p:cNvPr id="14" name="future Cloud deployment icon" descr="preencoded.png">    </p:cNvPr>
          <p:cNvPicPr>
            <a:picLocks noChangeAspect="1"/>
          </p:cNvPicPr>
          <p:nvPr/>
        </p:nvPicPr>
        <p:blipFill>
          <a:blip r:embed="rId3"/>
          <a:stretch>
            <a:fillRect/>
          </a:stretch>
        </p:blipFill>
        <p:spPr>
          <a:xfrm>
            <a:off x="950976" y="4946904"/>
            <a:ext cx="347472" cy="347472"/>
          </a:xfrm>
          <a:prstGeom prst="rect">
            <a:avLst/>
          </a:prstGeom>
        </p:spPr>
      </p:pic>
      <p:sp>
        <p:nvSpPr>
          <p:cNvPr id="15" name="Text 10"/>
          <p:cNvSpPr txBox="1"/>
          <p:nvPr/>
        </p:nvSpPr>
        <p:spPr>
          <a:xfrm>
            <a:off x="1691640" y="4636008"/>
            <a:ext cx="4114800" cy="969264"/>
          </a:xfrm>
          <a:prstGeom prst="rect">
            <a:avLst/>
          </a:prstGeom>
          <a:noFill/>
          <a:ln/>
        </p:spPr>
        <p:txBody>
          <a:bodyPr wrap="square" lIns="0" tIns="0" rIns="0" bIns="0" rtlCol="0" anchor="ctr"/>
          <a:lstStyle/>
          <a:p>
            <a:pPr indent="0" marL="0">
              <a:spcAft>
                <a:spcPts val="300"/>
              </a:spcAft>
              <a:buNone/>
            </a:pPr>
            <a:r>
              <a:rPr lang="en-US" sz="1800" b="1" dirty="0">
                <a:solidFill>
                  <a:schemeClr val="bg2"/>
                </a:solidFill>
              </a:rPr>
              <a:t>Cloud deployment</a:t>
            </a:r>
            <a:endParaRPr lang="en-US" sz="1800" dirty="0"/>
          </a:p>
          <a:p>
            <a:pPr indent="0" marL="0">
              <a:spcAft>
                <a:spcPts val="300"/>
              </a:spcAft>
              <a:buNone/>
            </a:pPr>
            <a:r>
              <a:rPr lang="en-US" sz="1300" dirty="0">
                <a:solidFill>
                  <a:schemeClr val="accent6"/>
                </a:solidFill>
              </a:rPr>
              <a:t>Cloud Run backend, hosted PostgreSQL and a public URL</a:t>
            </a:r>
            <a:endParaRPr lang="en-US" sz="1800" dirty="0"/>
          </a:p>
        </p:txBody>
      </p:sp>
      <p:sp>
        <p:nvSpPr>
          <p:cNvPr id="16" name="Text 11"/>
          <p:cNvSpPr txBox="1"/>
          <p:nvPr/>
        </p:nvSpPr>
        <p:spPr>
          <a:xfrm>
            <a:off x="6217920" y="1371600"/>
            <a:ext cx="539496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LATER  ·  LONGER TERM</a:t>
            </a:r>
            <a:endParaRPr lang="en-US" sz="1200" dirty="0"/>
          </a:p>
        </p:txBody>
      </p:sp>
      <p:sp>
        <p:nvSpPr>
          <p:cNvPr id="17" name="future Meaning-based matching"/>
          <p:cNvSpPr/>
          <p:nvPr/>
        </p:nvSpPr>
        <p:spPr>
          <a:xfrm>
            <a:off x="6217920" y="1783080"/>
            <a:ext cx="5394960" cy="1188720"/>
          </a:xfrm>
          <a:prstGeom prst="roundRect">
            <a:avLst>
              <a:gd name="adj" fmla="val 9231"/>
            </a:avLst>
          </a:prstGeom>
          <a:solidFill>
            <a:schemeClr val="tx2"/>
          </a:solidFill>
          <a:ln w="9525">
            <a:solidFill>
              <a:schemeClr val="tx2"/>
            </a:solidFill>
            <a:prstDash val="solid"/>
          </a:ln>
        </p:spPr>
      </p:sp>
      <p:sp>
        <p:nvSpPr>
          <p:cNvPr id="18" name="future Meaning-based matching circle"/>
          <p:cNvSpPr/>
          <p:nvPr/>
        </p:nvSpPr>
        <p:spPr>
          <a:xfrm>
            <a:off x="6446520" y="2029968"/>
            <a:ext cx="694944" cy="694944"/>
          </a:xfrm>
          <a:prstGeom prst="ellipse">
            <a:avLst/>
          </a:prstGeom>
          <a:solidFill>
            <a:schemeClr val="accent5"/>
          </a:solidFill>
          <a:ln w="6350">
            <a:solidFill>
              <a:schemeClr val="accent5"/>
            </a:solidFill>
            <a:prstDash val="solid"/>
          </a:ln>
        </p:spPr>
      </p:sp>
      <p:pic>
        <p:nvPicPr>
          <p:cNvPr id="19" name="future Meaning-based matching icon" descr="preencoded.png">    </p:cNvPr>
          <p:cNvPicPr>
            <a:picLocks noChangeAspect="1"/>
          </p:cNvPicPr>
          <p:nvPr/>
        </p:nvPicPr>
        <p:blipFill>
          <a:blip r:embed="rId4"/>
          <a:stretch>
            <a:fillRect/>
          </a:stretch>
        </p:blipFill>
        <p:spPr>
          <a:xfrm>
            <a:off x="6620256" y="2203704"/>
            <a:ext cx="347472" cy="347472"/>
          </a:xfrm>
          <a:prstGeom prst="rect">
            <a:avLst/>
          </a:prstGeom>
        </p:spPr>
      </p:pic>
      <p:sp>
        <p:nvSpPr>
          <p:cNvPr id="20" name="Text 14"/>
          <p:cNvSpPr txBox="1"/>
          <p:nvPr/>
        </p:nvSpPr>
        <p:spPr>
          <a:xfrm>
            <a:off x="7360920" y="1892808"/>
            <a:ext cx="4114800" cy="969264"/>
          </a:xfrm>
          <a:prstGeom prst="rect">
            <a:avLst/>
          </a:prstGeom>
          <a:noFill/>
          <a:ln/>
        </p:spPr>
        <p:txBody>
          <a:bodyPr wrap="square" lIns="0" tIns="0" rIns="0" bIns="0" rtlCol="0" anchor="ctr"/>
          <a:lstStyle/>
          <a:p>
            <a:pPr indent="0" marL="0">
              <a:spcAft>
                <a:spcPts val="300"/>
              </a:spcAft>
              <a:buNone/>
            </a:pPr>
            <a:r>
              <a:rPr lang="en-US" sz="1800" b="1" dirty="0">
                <a:solidFill>
                  <a:schemeClr val="bg2"/>
                </a:solidFill>
              </a:rPr>
              <a:t>Meaning-based matching</a:t>
            </a:r>
            <a:endParaRPr lang="en-US" sz="1800" dirty="0"/>
          </a:p>
          <a:p>
            <a:pPr indent="0" marL="0">
              <a:spcAft>
                <a:spcPts val="300"/>
              </a:spcAft>
              <a:buNone/>
            </a:pPr>
            <a:r>
              <a:rPr lang="en-US" sz="1300" dirty="0">
                <a:solidFill>
                  <a:schemeClr val="accent6"/>
                </a:solidFill>
              </a:rPr>
              <a:t>Sentence embeddings and pgvector to match skills phrased differently</a:t>
            </a:r>
            <a:endParaRPr lang="en-US" sz="1800" dirty="0"/>
          </a:p>
        </p:txBody>
      </p:sp>
      <p:sp>
        <p:nvSpPr>
          <p:cNvPr id="21" name="future Interview preparation"/>
          <p:cNvSpPr/>
          <p:nvPr/>
        </p:nvSpPr>
        <p:spPr>
          <a:xfrm>
            <a:off x="6217920" y="3154680"/>
            <a:ext cx="5394960" cy="1188720"/>
          </a:xfrm>
          <a:prstGeom prst="roundRect">
            <a:avLst>
              <a:gd name="adj" fmla="val 9231"/>
            </a:avLst>
          </a:prstGeom>
          <a:solidFill>
            <a:schemeClr val="tx2"/>
          </a:solidFill>
          <a:ln w="9525">
            <a:solidFill>
              <a:schemeClr val="tx2"/>
            </a:solidFill>
            <a:prstDash val="solid"/>
          </a:ln>
        </p:spPr>
      </p:sp>
      <p:sp>
        <p:nvSpPr>
          <p:cNvPr id="22" name="future Interview preparation circle"/>
          <p:cNvSpPr/>
          <p:nvPr/>
        </p:nvSpPr>
        <p:spPr>
          <a:xfrm>
            <a:off x="6446520" y="3401568"/>
            <a:ext cx="694944" cy="694944"/>
          </a:xfrm>
          <a:prstGeom prst="ellipse">
            <a:avLst/>
          </a:prstGeom>
          <a:solidFill>
            <a:schemeClr val="accent5"/>
          </a:solidFill>
          <a:ln w="6350">
            <a:solidFill>
              <a:schemeClr val="accent5"/>
            </a:solidFill>
            <a:prstDash val="solid"/>
          </a:ln>
        </p:spPr>
      </p:sp>
      <p:pic>
        <p:nvPicPr>
          <p:cNvPr id="23" name="future Interview preparation icon" descr="preencoded.png">    </p:cNvPr>
          <p:cNvPicPr>
            <a:picLocks noChangeAspect="1"/>
          </p:cNvPicPr>
          <p:nvPr/>
        </p:nvPicPr>
        <p:blipFill>
          <a:blip r:embed="rId5"/>
          <a:stretch>
            <a:fillRect/>
          </a:stretch>
        </p:blipFill>
        <p:spPr>
          <a:xfrm>
            <a:off x="6620256" y="3575304"/>
            <a:ext cx="347472" cy="347472"/>
          </a:xfrm>
          <a:prstGeom prst="rect">
            <a:avLst/>
          </a:prstGeom>
        </p:spPr>
      </p:pic>
      <p:sp>
        <p:nvSpPr>
          <p:cNvPr id="24" name="Text 17"/>
          <p:cNvSpPr txBox="1"/>
          <p:nvPr/>
        </p:nvSpPr>
        <p:spPr>
          <a:xfrm>
            <a:off x="7360920" y="3264408"/>
            <a:ext cx="4114800" cy="969264"/>
          </a:xfrm>
          <a:prstGeom prst="rect">
            <a:avLst/>
          </a:prstGeom>
          <a:noFill/>
          <a:ln/>
        </p:spPr>
        <p:txBody>
          <a:bodyPr wrap="square" lIns="0" tIns="0" rIns="0" bIns="0" rtlCol="0" anchor="ctr"/>
          <a:lstStyle/>
          <a:p>
            <a:pPr indent="0" marL="0">
              <a:spcAft>
                <a:spcPts val="300"/>
              </a:spcAft>
              <a:buNone/>
            </a:pPr>
            <a:r>
              <a:rPr lang="en-US" sz="1800" b="1" dirty="0">
                <a:solidFill>
                  <a:schemeClr val="bg2"/>
                </a:solidFill>
              </a:rPr>
              <a:t>Interview preparation</a:t>
            </a:r>
            <a:endParaRPr lang="en-US" sz="1800" dirty="0"/>
          </a:p>
          <a:p>
            <a:pPr indent="0" marL="0">
              <a:spcAft>
                <a:spcPts val="300"/>
              </a:spcAft>
              <a:buNone/>
            </a:pPr>
            <a:r>
              <a:rPr lang="en-US" sz="1300" dirty="0">
                <a:solidFill>
                  <a:schemeClr val="accent6"/>
                </a:solidFill>
              </a:rPr>
              <a:t>Practice questions built from your gaps and your own verified projects</a:t>
            </a:r>
            <a:endParaRPr lang="en-US" sz="1800" dirty="0"/>
          </a:p>
        </p:txBody>
      </p:sp>
      <p:sp>
        <p:nvSpPr>
          <p:cNvPr id="25" name="future Cover letters and LinkedIn"/>
          <p:cNvSpPr/>
          <p:nvPr/>
        </p:nvSpPr>
        <p:spPr>
          <a:xfrm>
            <a:off x="6217920" y="4526280"/>
            <a:ext cx="5394960" cy="1188720"/>
          </a:xfrm>
          <a:prstGeom prst="roundRect">
            <a:avLst>
              <a:gd name="adj" fmla="val 9231"/>
            </a:avLst>
          </a:prstGeom>
          <a:solidFill>
            <a:schemeClr val="tx2"/>
          </a:solidFill>
          <a:ln w="9525">
            <a:solidFill>
              <a:schemeClr val="tx2"/>
            </a:solidFill>
            <a:prstDash val="solid"/>
          </a:ln>
        </p:spPr>
      </p:sp>
      <p:sp>
        <p:nvSpPr>
          <p:cNvPr id="26" name="future Cover letters and LinkedIn circle"/>
          <p:cNvSpPr/>
          <p:nvPr/>
        </p:nvSpPr>
        <p:spPr>
          <a:xfrm>
            <a:off x="6446520" y="4773168"/>
            <a:ext cx="694944" cy="694944"/>
          </a:xfrm>
          <a:prstGeom prst="ellipse">
            <a:avLst/>
          </a:prstGeom>
          <a:solidFill>
            <a:schemeClr val="accent5"/>
          </a:solidFill>
          <a:ln w="6350">
            <a:solidFill>
              <a:schemeClr val="accent5"/>
            </a:solidFill>
            <a:prstDash val="solid"/>
          </a:ln>
        </p:spPr>
      </p:sp>
      <p:pic>
        <p:nvPicPr>
          <p:cNvPr id="27" name="future Cover letters and LinkedIn icon" descr="preencoded.png">    </p:cNvPr>
          <p:cNvPicPr>
            <a:picLocks noChangeAspect="1"/>
          </p:cNvPicPr>
          <p:nvPr/>
        </p:nvPicPr>
        <p:blipFill>
          <a:blip r:embed="rId6"/>
          <a:stretch>
            <a:fillRect/>
          </a:stretch>
        </p:blipFill>
        <p:spPr>
          <a:xfrm>
            <a:off x="6620256" y="4946904"/>
            <a:ext cx="347472" cy="347472"/>
          </a:xfrm>
          <a:prstGeom prst="rect">
            <a:avLst/>
          </a:prstGeom>
        </p:spPr>
      </p:pic>
      <p:sp>
        <p:nvSpPr>
          <p:cNvPr id="28" name="Text 20"/>
          <p:cNvSpPr txBox="1"/>
          <p:nvPr/>
        </p:nvSpPr>
        <p:spPr>
          <a:xfrm>
            <a:off x="7360920" y="4636008"/>
            <a:ext cx="4114800" cy="969264"/>
          </a:xfrm>
          <a:prstGeom prst="rect">
            <a:avLst/>
          </a:prstGeom>
          <a:noFill/>
          <a:ln/>
        </p:spPr>
        <p:txBody>
          <a:bodyPr wrap="square" lIns="0" tIns="0" rIns="0" bIns="0" rtlCol="0" anchor="ctr"/>
          <a:lstStyle/>
          <a:p>
            <a:pPr indent="0" marL="0">
              <a:spcAft>
                <a:spcPts val="300"/>
              </a:spcAft>
              <a:buNone/>
            </a:pPr>
            <a:r>
              <a:rPr lang="en-US" sz="1800" b="1" dirty="0">
                <a:solidFill>
                  <a:schemeClr val="bg2"/>
                </a:solidFill>
              </a:rPr>
              <a:t>Cover letters and LinkedIn</a:t>
            </a:r>
            <a:endParaRPr lang="en-US" sz="1800" dirty="0"/>
          </a:p>
          <a:p>
            <a:pPr indent="0" marL="0">
              <a:spcAft>
                <a:spcPts val="300"/>
              </a:spcAft>
              <a:buNone/>
            </a:pPr>
            <a:r>
              <a:rPr lang="en-US" sz="1300" dirty="0">
                <a:solidFill>
                  <a:schemeClr val="accent6"/>
                </a:solidFill>
              </a:rPr>
              <a:t>The same verified facts, reused for more documents</a:t>
            </a:r>
            <a:endParaRPr lang="en-US" sz="1800" dirty="0"/>
          </a:p>
        </p:txBody>
      </p:sp>
      <p:sp>
        <p:nvSpPr>
          <p:cNvPr id="29" name="Text 21"/>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200" i="1" dirty="0">
                <a:solidFill>
                  <a:schemeClr val="accent6"/>
                </a:solidFill>
              </a:rPr>
              <a:t>Each step keeps the same rule: no claim on the resume without a source behind it.</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indent="0" marL="0">
              <a:buNone/>
            </a:pPr>
            <a:r>
              <a:rPr lang="en-US" sz="3200" b="1" dirty="0">
                <a:solidFill>
                  <a:schemeClr val="bg2"/>
                </a:solidFill>
                <a:latin typeface="Cambria" pitchFamily="34" charset="0"/>
                <a:ea typeface="Cambria" pitchFamily="34" charset="-122"/>
                <a:cs typeface="Cambria" pitchFamily="34" charset="-120"/>
              </a:rPr>
              <a:t>Live demo and key takeaways</a:t>
            </a:r>
            <a:endParaRPr lang="en-US" sz="3200" dirty="0"/>
          </a:p>
        </p:txBody>
      </p:sp>
      <p:sp>
        <p:nvSpPr>
          <p:cNvPr id="3" name="Text 1"/>
          <p:cNvSpPr txBox="1"/>
          <p:nvPr/>
        </p:nvSpPr>
        <p:spPr>
          <a:xfrm>
            <a:off x="548640" y="1371600"/>
            <a:ext cx="54864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DEMO PATH</a:t>
            </a:r>
            <a:endParaRPr lang="en-US" sz="1200" dirty="0"/>
          </a:p>
        </p:txBody>
      </p:sp>
      <p:sp>
        <p:nvSpPr>
          <p:cNvPr id="4" name="demo step 1"/>
          <p:cNvSpPr/>
          <p:nvPr/>
        </p:nvSpPr>
        <p:spPr>
          <a:xfrm>
            <a:off x="548640" y="1783080"/>
            <a:ext cx="457200" cy="457200"/>
          </a:xfrm>
          <a:prstGeom prst="ellipse">
            <a:avLst/>
          </a:prstGeom>
          <a:solidFill>
            <a:schemeClr val="accent1"/>
          </a:solidFill>
          <a:ln w="6350">
            <a:solidFill>
              <a:schemeClr val="accent1"/>
            </a:solidFill>
            <a:prstDash val="solid"/>
          </a:ln>
        </p:spPr>
      </p:sp>
      <p:sp>
        <p:nvSpPr>
          <p:cNvPr id="5" name="Text 3"/>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188720" y="1783080"/>
            <a:ext cx="4114800" cy="457200"/>
          </a:xfrm>
          <a:prstGeom prst="rect">
            <a:avLst/>
          </a:prstGeom>
          <a:noFill/>
          <a:ln/>
        </p:spPr>
        <p:txBody>
          <a:bodyPr wrap="square" lIns="0" tIns="0" rIns="0" bIns="0" rtlCol="0" anchor="ctr"/>
          <a:lstStyle/>
          <a:p>
            <a:pPr indent="0" marL="0">
              <a:buNone/>
            </a:pPr>
            <a:r>
              <a:rPr lang="en-US" sz="1800" dirty="0">
                <a:solidFill>
                  <a:schemeClr val="bg2"/>
                </a:solidFill>
              </a:rPr>
              <a:t>Add sources</a:t>
            </a:r>
            <a:endParaRPr lang="en-US" sz="1800" dirty="0"/>
          </a:p>
        </p:txBody>
      </p:sp>
      <p:sp>
        <p:nvSpPr>
          <p:cNvPr id="7" name="demo step 2"/>
          <p:cNvSpPr/>
          <p:nvPr/>
        </p:nvSpPr>
        <p:spPr>
          <a:xfrm>
            <a:off x="548640" y="2404872"/>
            <a:ext cx="457200" cy="457200"/>
          </a:xfrm>
          <a:prstGeom prst="ellipse">
            <a:avLst/>
          </a:prstGeom>
          <a:solidFill>
            <a:schemeClr val="accent1"/>
          </a:solidFill>
          <a:ln w="6350">
            <a:solidFill>
              <a:schemeClr val="accent1"/>
            </a:solidFill>
            <a:prstDash val="solid"/>
          </a:ln>
        </p:spPr>
      </p:sp>
      <p:sp>
        <p:nvSpPr>
          <p:cNvPr id="8" name="Text 6"/>
          <p:cNvSpPr txBox="1"/>
          <p:nvPr/>
        </p:nvSpPr>
        <p:spPr>
          <a:xfrm>
            <a:off x="548640" y="240487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9" name="Text 7"/>
          <p:cNvSpPr txBox="1"/>
          <p:nvPr/>
        </p:nvSpPr>
        <p:spPr>
          <a:xfrm>
            <a:off x="1188720" y="2404872"/>
            <a:ext cx="4114800" cy="457200"/>
          </a:xfrm>
          <a:prstGeom prst="rect">
            <a:avLst/>
          </a:prstGeom>
          <a:noFill/>
          <a:ln/>
        </p:spPr>
        <p:txBody>
          <a:bodyPr wrap="square" lIns="0" tIns="0" rIns="0" bIns="0" rtlCol="0" anchor="ctr"/>
          <a:lstStyle/>
          <a:p>
            <a:pPr indent="0" marL="0">
              <a:buNone/>
            </a:pPr>
            <a:r>
              <a:rPr lang="en-US" sz="1800" dirty="0">
                <a:solidFill>
                  <a:schemeClr val="bg2"/>
                </a:solidFill>
              </a:rPr>
              <a:t>Verify facts</a:t>
            </a:r>
            <a:endParaRPr lang="en-US" sz="1800" dirty="0"/>
          </a:p>
        </p:txBody>
      </p:sp>
      <p:sp>
        <p:nvSpPr>
          <p:cNvPr id="10" name="demo step 3"/>
          <p:cNvSpPr/>
          <p:nvPr/>
        </p:nvSpPr>
        <p:spPr>
          <a:xfrm>
            <a:off x="548640" y="3026664"/>
            <a:ext cx="457200" cy="457200"/>
          </a:xfrm>
          <a:prstGeom prst="ellipse">
            <a:avLst/>
          </a:prstGeom>
          <a:solidFill>
            <a:schemeClr val="accent1"/>
          </a:solidFill>
          <a:ln w="6350">
            <a:solidFill>
              <a:schemeClr val="accent1"/>
            </a:solidFill>
            <a:prstDash val="solid"/>
          </a:ln>
        </p:spPr>
      </p:sp>
      <p:sp>
        <p:nvSpPr>
          <p:cNvPr id="11" name="Text 9"/>
          <p:cNvSpPr txBox="1"/>
          <p:nvPr/>
        </p:nvSpPr>
        <p:spPr>
          <a:xfrm>
            <a:off x="548640" y="302666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2" name="Text 10"/>
          <p:cNvSpPr txBox="1"/>
          <p:nvPr/>
        </p:nvSpPr>
        <p:spPr>
          <a:xfrm>
            <a:off x="1188720" y="3026664"/>
            <a:ext cx="4114800" cy="457200"/>
          </a:xfrm>
          <a:prstGeom prst="rect">
            <a:avLst/>
          </a:prstGeom>
          <a:noFill/>
          <a:ln/>
        </p:spPr>
        <p:txBody>
          <a:bodyPr wrap="square" lIns="0" tIns="0" rIns="0" bIns="0" rtlCol="0" anchor="ctr"/>
          <a:lstStyle/>
          <a:p>
            <a:pPr indent="0" marL="0">
              <a:buNone/>
            </a:pPr>
            <a:r>
              <a:rPr lang="en-US" sz="1800" dirty="0">
                <a:solidFill>
                  <a:schemeClr val="bg2"/>
                </a:solidFill>
              </a:rPr>
              <a:t>New job</a:t>
            </a:r>
            <a:endParaRPr lang="en-US" sz="1800" dirty="0"/>
          </a:p>
        </p:txBody>
      </p:sp>
      <p:sp>
        <p:nvSpPr>
          <p:cNvPr id="13" name="demo step 4"/>
          <p:cNvSpPr/>
          <p:nvPr/>
        </p:nvSpPr>
        <p:spPr>
          <a:xfrm>
            <a:off x="548640" y="3648456"/>
            <a:ext cx="457200" cy="457200"/>
          </a:xfrm>
          <a:prstGeom prst="ellipse">
            <a:avLst/>
          </a:prstGeom>
          <a:solidFill>
            <a:schemeClr val="accent1"/>
          </a:solidFill>
          <a:ln w="6350">
            <a:solidFill>
              <a:schemeClr val="accent1"/>
            </a:solidFill>
            <a:prstDash val="solid"/>
          </a:ln>
        </p:spPr>
      </p:sp>
      <p:sp>
        <p:nvSpPr>
          <p:cNvPr id="14" name="Text 12"/>
          <p:cNvSpPr txBox="1"/>
          <p:nvPr/>
        </p:nvSpPr>
        <p:spPr>
          <a:xfrm>
            <a:off x="548640" y="364845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5" name="Text 13"/>
          <p:cNvSpPr txBox="1"/>
          <p:nvPr/>
        </p:nvSpPr>
        <p:spPr>
          <a:xfrm>
            <a:off x="1188720" y="3648456"/>
            <a:ext cx="4114800" cy="457200"/>
          </a:xfrm>
          <a:prstGeom prst="rect">
            <a:avLst/>
          </a:prstGeom>
          <a:noFill/>
          <a:ln/>
        </p:spPr>
        <p:txBody>
          <a:bodyPr wrap="square" lIns="0" tIns="0" rIns="0" bIns="0" rtlCol="0" anchor="ctr"/>
          <a:lstStyle/>
          <a:p>
            <a:pPr indent="0" marL="0">
              <a:buNone/>
            </a:pPr>
            <a:r>
              <a:rPr lang="en-US" sz="1800" dirty="0">
                <a:solidFill>
                  <a:schemeClr val="bg2"/>
                </a:solidFill>
              </a:rPr>
              <a:t>Tailor &amp; edit</a:t>
            </a:r>
            <a:endParaRPr lang="en-US" sz="1800" dirty="0"/>
          </a:p>
        </p:txBody>
      </p:sp>
      <p:sp>
        <p:nvSpPr>
          <p:cNvPr id="16" name="demo step 5"/>
          <p:cNvSpPr/>
          <p:nvPr/>
        </p:nvSpPr>
        <p:spPr>
          <a:xfrm>
            <a:off x="548640" y="4270248"/>
            <a:ext cx="457200" cy="457200"/>
          </a:xfrm>
          <a:prstGeom prst="ellipse">
            <a:avLst/>
          </a:prstGeom>
          <a:solidFill>
            <a:schemeClr val="accent1"/>
          </a:solidFill>
          <a:ln w="6350">
            <a:solidFill>
              <a:schemeClr val="accent1"/>
            </a:solidFill>
            <a:prstDash val="solid"/>
          </a:ln>
        </p:spPr>
      </p:sp>
      <p:sp>
        <p:nvSpPr>
          <p:cNvPr id="17" name="Text 15"/>
          <p:cNvSpPr txBox="1"/>
          <p:nvPr/>
        </p:nvSpPr>
        <p:spPr>
          <a:xfrm>
            <a:off x="548640" y="42702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18" name="Text 16"/>
          <p:cNvSpPr txBox="1"/>
          <p:nvPr/>
        </p:nvSpPr>
        <p:spPr>
          <a:xfrm>
            <a:off x="1188720" y="4270248"/>
            <a:ext cx="4114800" cy="457200"/>
          </a:xfrm>
          <a:prstGeom prst="rect">
            <a:avLst/>
          </a:prstGeom>
          <a:noFill/>
          <a:ln/>
        </p:spPr>
        <p:txBody>
          <a:bodyPr wrap="square" lIns="0" tIns="0" rIns="0" bIns="0" rtlCol="0" anchor="ctr"/>
          <a:lstStyle/>
          <a:p>
            <a:pPr indent="0" marL="0">
              <a:buNone/>
            </a:pPr>
            <a:r>
              <a:rPr lang="en-US" sz="1800" dirty="0">
                <a:solidFill>
                  <a:schemeClr val="bg2"/>
                </a:solidFill>
              </a:rPr>
              <a:t>Score report</a:t>
            </a:r>
            <a:endParaRPr lang="en-US" sz="1800" dirty="0"/>
          </a:p>
        </p:txBody>
      </p:sp>
      <p:sp>
        <p:nvSpPr>
          <p:cNvPr id="19" name="demo step 6"/>
          <p:cNvSpPr/>
          <p:nvPr/>
        </p:nvSpPr>
        <p:spPr>
          <a:xfrm>
            <a:off x="548640" y="4892040"/>
            <a:ext cx="457200" cy="457200"/>
          </a:xfrm>
          <a:prstGeom prst="ellipse">
            <a:avLst/>
          </a:prstGeom>
          <a:solidFill>
            <a:schemeClr val="accent1"/>
          </a:solidFill>
          <a:ln w="6350">
            <a:solidFill>
              <a:schemeClr val="accent1"/>
            </a:solidFill>
            <a:prstDash val="solid"/>
          </a:ln>
        </p:spPr>
      </p:sp>
      <p:sp>
        <p:nvSpPr>
          <p:cNvPr id="20" name="Text 18"/>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21" name="Text 19"/>
          <p:cNvSpPr txBox="1"/>
          <p:nvPr/>
        </p:nvSpPr>
        <p:spPr>
          <a:xfrm>
            <a:off x="1188720" y="4892040"/>
            <a:ext cx="4114800" cy="457200"/>
          </a:xfrm>
          <a:prstGeom prst="rect">
            <a:avLst/>
          </a:prstGeom>
          <a:noFill/>
          <a:ln/>
        </p:spPr>
        <p:txBody>
          <a:bodyPr wrap="square" lIns="0" tIns="0" rIns="0" bIns="0" rtlCol="0" anchor="ctr"/>
          <a:lstStyle/>
          <a:p>
            <a:pPr indent="0" marL="0">
              <a:buNone/>
            </a:pPr>
            <a:r>
              <a:rPr lang="en-US" sz="1800" dirty="0">
                <a:solidFill>
                  <a:schemeClr val="bg2"/>
                </a:solidFill>
              </a:rPr>
              <a:t>Export</a:t>
            </a:r>
            <a:endParaRPr lang="en-US" sz="1800" dirty="0"/>
          </a:p>
        </p:txBody>
      </p:sp>
      <p:sp>
        <p:nvSpPr>
          <p:cNvPr id="22" name="Text 20"/>
          <p:cNvSpPr txBox="1"/>
          <p:nvPr/>
        </p:nvSpPr>
        <p:spPr>
          <a:xfrm>
            <a:off x="548640" y="5623560"/>
            <a:ext cx="5120640" cy="502920"/>
          </a:xfrm>
          <a:prstGeom prst="rect">
            <a:avLst/>
          </a:prstGeom>
          <a:noFill/>
          <a:ln/>
        </p:spPr>
        <p:txBody>
          <a:bodyPr wrap="square" lIns="0" tIns="0" rIns="0" bIns="0" rtlCol="0" anchor="ctr"/>
          <a:lstStyle/>
          <a:p>
            <a:pPr indent="0" marL="0">
              <a:buNone/>
            </a:pPr>
            <a:r>
              <a:rPr lang="en-US" sz="1200" i="1" dirty="0">
                <a:solidFill>
                  <a:schemeClr val="accent6"/>
                </a:solidFill>
              </a:rPr>
              <a:t>Watch the Live agents panel: each agent lights up while it works.</a:t>
            </a:r>
            <a:endParaRPr lang="en-US" sz="1200" dirty="0"/>
          </a:p>
        </p:txBody>
      </p:sp>
      <p:sp>
        <p:nvSpPr>
          <p:cNvPr id="23" name="Text 21"/>
          <p:cNvSpPr txBox="1"/>
          <p:nvPr/>
        </p:nvSpPr>
        <p:spPr>
          <a:xfrm>
            <a:off x="6263640" y="1371600"/>
            <a:ext cx="53035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TAKEAWAYS</a:t>
            </a:r>
            <a:endParaRPr lang="en-US" sz="1200" dirty="0"/>
          </a:p>
        </p:txBody>
      </p:sp>
      <p:sp>
        <p:nvSpPr>
          <p:cNvPr id="24" name="takeaway 1"/>
          <p:cNvSpPr/>
          <p:nvPr/>
        </p:nvSpPr>
        <p:spPr>
          <a:xfrm>
            <a:off x="6263640" y="1783080"/>
            <a:ext cx="5349240" cy="822960"/>
          </a:xfrm>
          <a:prstGeom prst="roundRect">
            <a:avLst>
              <a:gd name="adj" fmla="val 13333"/>
            </a:avLst>
          </a:prstGeom>
          <a:solidFill>
            <a:schemeClr val="tx2"/>
          </a:solidFill>
          <a:ln w="9525">
            <a:solidFill>
              <a:schemeClr val="tx2"/>
            </a:solidFill>
            <a:prstDash val="solid"/>
          </a:ln>
        </p:spPr>
      </p:sp>
      <p:sp>
        <p:nvSpPr>
          <p:cNvPr id="25" name="takeaway 1 circle"/>
          <p:cNvSpPr/>
          <p:nvPr/>
        </p:nvSpPr>
        <p:spPr>
          <a:xfrm>
            <a:off x="6446520" y="1920240"/>
            <a:ext cx="548640" cy="548640"/>
          </a:xfrm>
          <a:prstGeom prst="ellipse">
            <a:avLst/>
          </a:prstGeom>
          <a:solidFill>
            <a:schemeClr val="accent5"/>
          </a:solidFill>
          <a:ln w="6350">
            <a:solidFill>
              <a:schemeClr val="accent5"/>
            </a:solidFill>
            <a:prstDash val="solid"/>
          </a:ln>
        </p:spPr>
      </p:sp>
      <p:pic>
        <p:nvPicPr>
          <p:cNvPr id="26" name="takeaway 1 icon" descr="preencoded.png">    </p:cNvPr>
          <p:cNvPicPr>
            <a:picLocks noChangeAspect="1"/>
          </p:cNvPicPr>
          <p:nvPr/>
        </p:nvPicPr>
        <p:blipFill>
          <a:blip r:embed="rId1"/>
          <a:stretch>
            <a:fillRect/>
          </a:stretch>
        </p:blipFill>
        <p:spPr>
          <a:xfrm>
            <a:off x="6583680" y="2057400"/>
            <a:ext cx="274320" cy="274320"/>
          </a:xfrm>
          <a:prstGeom prst="rect">
            <a:avLst/>
          </a:prstGeom>
        </p:spPr>
      </p:pic>
      <p:sp>
        <p:nvSpPr>
          <p:cNvPr id="27" name="Text 24"/>
          <p:cNvSpPr txBox="1"/>
          <p:nvPr/>
        </p:nvSpPr>
        <p:spPr>
          <a:xfrm>
            <a:off x="7178040" y="1856232"/>
            <a:ext cx="4297680" cy="676656"/>
          </a:xfrm>
          <a:prstGeom prst="rect">
            <a:avLst/>
          </a:prstGeom>
          <a:noFill/>
          <a:ln/>
        </p:spPr>
        <p:txBody>
          <a:bodyPr wrap="square" lIns="0" tIns="0" rIns="0" bIns="0" rtlCol="0" anchor="ctr"/>
          <a:lstStyle/>
          <a:p>
            <a:pPr indent="0" marL="0">
              <a:buNone/>
            </a:pPr>
            <a:r>
              <a:rPr lang="en-US" sz="1600" b="1" dirty="0">
                <a:solidFill>
                  <a:schemeClr val="bg2"/>
                </a:solidFill>
              </a:rPr>
              <a:t>Every claim is traceable</a:t>
            </a:r>
            <a:endParaRPr lang="en-US" sz="1600" dirty="0"/>
          </a:p>
          <a:p>
            <a:pPr indent="0" marL="0">
              <a:buNone/>
            </a:pPr>
            <a:r>
              <a:rPr lang="en-US" sz="1200" dirty="0">
                <a:solidFill>
                  <a:schemeClr val="accent6"/>
                </a:solidFill>
              </a:rPr>
              <a:t>Each fact and bullet points back to a quote in your own files</a:t>
            </a:r>
            <a:endParaRPr lang="en-US" sz="1600" dirty="0"/>
          </a:p>
        </p:txBody>
      </p:sp>
      <p:sp>
        <p:nvSpPr>
          <p:cNvPr id="28" name="takeaway 2"/>
          <p:cNvSpPr/>
          <p:nvPr/>
        </p:nvSpPr>
        <p:spPr>
          <a:xfrm>
            <a:off x="6263640" y="2770632"/>
            <a:ext cx="5349240" cy="822960"/>
          </a:xfrm>
          <a:prstGeom prst="roundRect">
            <a:avLst>
              <a:gd name="adj" fmla="val 13333"/>
            </a:avLst>
          </a:prstGeom>
          <a:solidFill>
            <a:schemeClr val="tx2"/>
          </a:solidFill>
          <a:ln w="9525">
            <a:solidFill>
              <a:schemeClr val="tx2"/>
            </a:solidFill>
            <a:prstDash val="solid"/>
          </a:ln>
        </p:spPr>
      </p:sp>
      <p:sp>
        <p:nvSpPr>
          <p:cNvPr id="29" name="takeaway 2 circle"/>
          <p:cNvSpPr/>
          <p:nvPr/>
        </p:nvSpPr>
        <p:spPr>
          <a:xfrm>
            <a:off x="6446520" y="2907792"/>
            <a:ext cx="548640" cy="548640"/>
          </a:xfrm>
          <a:prstGeom prst="ellipse">
            <a:avLst/>
          </a:prstGeom>
          <a:solidFill>
            <a:schemeClr val="accent5"/>
          </a:solidFill>
          <a:ln w="6350">
            <a:solidFill>
              <a:schemeClr val="accent5"/>
            </a:solidFill>
            <a:prstDash val="solid"/>
          </a:ln>
        </p:spPr>
      </p:sp>
      <p:pic>
        <p:nvPicPr>
          <p:cNvPr id="30" name="takeaway 2 icon" descr="preencoded.png">    </p:cNvPr>
          <p:cNvPicPr>
            <a:picLocks noChangeAspect="1"/>
          </p:cNvPicPr>
          <p:nvPr/>
        </p:nvPicPr>
        <p:blipFill>
          <a:blip r:embed="rId2"/>
          <a:stretch>
            <a:fillRect/>
          </a:stretch>
        </p:blipFill>
        <p:spPr>
          <a:xfrm>
            <a:off x="6583680" y="3044952"/>
            <a:ext cx="274320" cy="274320"/>
          </a:xfrm>
          <a:prstGeom prst="rect">
            <a:avLst/>
          </a:prstGeom>
        </p:spPr>
      </p:pic>
      <p:sp>
        <p:nvSpPr>
          <p:cNvPr id="31" name="Text 27"/>
          <p:cNvSpPr txBox="1"/>
          <p:nvPr/>
        </p:nvSpPr>
        <p:spPr>
          <a:xfrm>
            <a:off x="7178040" y="2843784"/>
            <a:ext cx="4297680" cy="676656"/>
          </a:xfrm>
          <a:prstGeom prst="rect">
            <a:avLst/>
          </a:prstGeom>
          <a:noFill/>
          <a:ln/>
        </p:spPr>
        <p:txBody>
          <a:bodyPr wrap="square" lIns="0" tIns="0" rIns="0" bIns="0" rtlCol="0" anchor="ctr"/>
          <a:lstStyle/>
          <a:p>
            <a:pPr indent="0" marL="0">
              <a:buNone/>
            </a:pPr>
            <a:r>
              <a:rPr lang="en-US" sz="1600" b="1" dirty="0">
                <a:solidFill>
                  <a:schemeClr val="bg2"/>
                </a:solidFill>
              </a:rPr>
              <a:t>Two agent frameworks</a:t>
            </a:r>
            <a:endParaRPr lang="en-US" sz="1600" dirty="0"/>
          </a:p>
          <a:p>
            <a:pPr indent="0" marL="0">
              <a:buNone/>
            </a:pPr>
            <a:r>
              <a:rPr lang="en-US" sz="1200" dirty="0">
                <a:solidFill>
                  <a:schemeClr val="accent6"/>
                </a:solidFill>
              </a:rPr>
              <a:t>CrewAI analyses, Google ADK writes and chats, Gemini powers both</a:t>
            </a:r>
            <a:endParaRPr lang="en-US" sz="1600" dirty="0"/>
          </a:p>
        </p:txBody>
      </p:sp>
      <p:sp>
        <p:nvSpPr>
          <p:cNvPr id="32" name="takeaway 3"/>
          <p:cNvSpPr/>
          <p:nvPr/>
        </p:nvSpPr>
        <p:spPr>
          <a:xfrm>
            <a:off x="6263640" y="3758184"/>
            <a:ext cx="5349240" cy="822960"/>
          </a:xfrm>
          <a:prstGeom prst="roundRect">
            <a:avLst>
              <a:gd name="adj" fmla="val 13333"/>
            </a:avLst>
          </a:prstGeom>
          <a:solidFill>
            <a:schemeClr val="tx2"/>
          </a:solidFill>
          <a:ln w="9525">
            <a:solidFill>
              <a:schemeClr val="tx2"/>
            </a:solidFill>
            <a:prstDash val="solid"/>
          </a:ln>
        </p:spPr>
      </p:sp>
      <p:sp>
        <p:nvSpPr>
          <p:cNvPr id="33" name="takeaway 3 circle"/>
          <p:cNvSpPr/>
          <p:nvPr/>
        </p:nvSpPr>
        <p:spPr>
          <a:xfrm>
            <a:off x="6446520" y="3895344"/>
            <a:ext cx="548640" cy="548640"/>
          </a:xfrm>
          <a:prstGeom prst="ellipse">
            <a:avLst/>
          </a:prstGeom>
          <a:solidFill>
            <a:schemeClr val="accent5"/>
          </a:solidFill>
          <a:ln w="6350">
            <a:solidFill>
              <a:schemeClr val="accent5"/>
            </a:solidFill>
            <a:prstDash val="solid"/>
          </a:ln>
        </p:spPr>
      </p:sp>
      <p:pic>
        <p:nvPicPr>
          <p:cNvPr id="34" name="takeaway 3 icon" descr="preencoded.png">    </p:cNvPr>
          <p:cNvPicPr>
            <a:picLocks noChangeAspect="1"/>
          </p:cNvPicPr>
          <p:nvPr/>
        </p:nvPicPr>
        <p:blipFill>
          <a:blip r:embed="rId3"/>
          <a:stretch>
            <a:fillRect/>
          </a:stretch>
        </p:blipFill>
        <p:spPr>
          <a:xfrm>
            <a:off x="6583680" y="4032504"/>
            <a:ext cx="274320" cy="274320"/>
          </a:xfrm>
          <a:prstGeom prst="rect">
            <a:avLst/>
          </a:prstGeom>
        </p:spPr>
      </p:pic>
      <p:sp>
        <p:nvSpPr>
          <p:cNvPr id="35" name="Text 30"/>
          <p:cNvSpPr txBox="1"/>
          <p:nvPr/>
        </p:nvSpPr>
        <p:spPr>
          <a:xfrm>
            <a:off x="7178040" y="3831336"/>
            <a:ext cx="4297680" cy="676656"/>
          </a:xfrm>
          <a:prstGeom prst="rect">
            <a:avLst/>
          </a:prstGeom>
          <a:noFill/>
          <a:ln/>
        </p:spPr>
        <p:txBody>
          <a:bodyPr wrap="square" lIns="0" tIns="0" rIns="0" bIns="0" rtlCol="0" anchor="ctr"/>
          <a:lstStyle/>
          <a:p>
            <a:pPr indent="0" marL="0">
              <a:buNone/>
            </a:pPr>
            <a:r>
              <a:rPr lang="en-US" sz="1600" b="1" dirty="0">
                <a:solidFill>
                  <a:schemeClr val="bg2"/>
                </a:solidFill>
              </a:rPr>
              <a:t>An explainable score</a:t>
            </a:r>
            <a:endParaRPr lang="en-US" sz="1600" dirty="0"/>
          </a:p>
          <a:p>
            <a:pPr indent="0" marL="0">
              <a:buNone/>
            </a:pPr>
            <a:r>
              <a:rPr lang="en-US" sz="1200" dirty="0">
                <a:solidFill>
                  <a:schemeClr val="accent6"/>
                </a:solidFill>
              </a:rPr>
              <a:t>Plain maths, the same result every time, a reason for every point</a:t>
            </a:r>
            <a:endParaRPr lang="en-US" sz="1600" dirty="0"/>
          </a:p>
        </p:txBody>
      </p:sp>
      <p:sp>
        <p:nvSpPr>
          <p:cNvPr id="36" name="thank you panel"/>
          <p:cNvSpPr/>
          <p:nvPr/>
        </p:nvSpPr>
        <p:spPr>
          <a:xfrm>
            <a:off x="6263640" y="4846320"/>
            <a:ext cx="5349240" cy="1280160"/>
          </a:xfrm>
          <a:prstGeom prst="roundRect">
            <a:avLst>
              <a:gd name="adj" fmla="val 8571"/>
            </a:avLst>
          </a:prstGeom>
          <a:solidFill>
            <a:schemeClr val="accent1"/>
          </a:solidFill>
          <a:ln w="9525">
            <a:solidFill>
              <a:schemeClr val="accent1"/>
            </a:solidFill>
            <a:prstDash val="solid"/>
          </a:ln>
        </p:spPr>
      </p:sp>
      <p:sp>
        <p:nvSpPr>
          <p:cNvPr id="37" name="Text 32"/>
          <p:cNvSpPr txBox="1"/>
          <p:nvPr/>
        </p:nvSpPr>
        <p:spPr>
          <a:xfrm>
            <a:off x="6537960" y="4892040"/>
            <a:ext cx="4846320" cy="118872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Thank you</a:t>
            </a:r>
            <a:endParaRPr lang="en-US" sz="3000" dirty="0"/>
          </a:p>
          <a:p>
            <a:pPr indent="0" marL="0">
              <a:buNone/>
            </a:pPr>
            <a:r>
              <a:rPr lang="en-US" sz="1500" dirty="0">
                <a:solidFill>
                  <a:schemeClr val="tx1"/>
                </a:solidFill>
              </a:rPr>
              <a:t>Questions are welcome</a:t>
            </a:r>
            <a:endParaRPr lang="en-US" sz="3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ResCraft">
  <a:themeElements>
    <a:clrScheme name="ResCraft">
      <a:dk1>
        <a:srgbClr val="140E0A"/>
      </a:dk1>
      <a:lt1>
        <a:srgbClr val="FFFFFF"/>
      </a:lt1>
      <a:dk2>
        <a:srgbClr val="2A1D14"/>
      </a:dk2>
      <a:lt2>
        <a:srgbClr val="FFF6EC"/>
      </a:lt2>
      <a:accent1>
        <a:srgbClr val="F97316"/>
      </a:accent1>
      <a:accent2>
        <a:srgbClr val="FDBA74"/>
      </a:accent2>
      <a:accent3>
        <a:srgbClr val="C2410C"/>
      </a:accent3>
      <a:accent4>
        <a:srgbClr val="FFD9B3"/>
      </a:accent4>
      <a:accent5>
        <a:srgbClr val="6B3A1A"/>
      </a:accent5>
      <a:accent6>
        <a:srgbClr val="D4A77A"/>
      </a:accent6>
      <a:hlink>
        <a:srgbClr val="F97316"/>
      </a:hlink>
      <a:folHlink>
        <a:srgbClr val="C2410C"/>
      </a:folHlink>
    </a:clrScheme>
    <a:fontScheme name="ResCraf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ResCraft - AI-Powered Resume Intelligence</dc:title>
  <dc:subject>PptxGenJS Presentation</dc:subject>
  <dc:creator>Palak Bhatt, Manya Agarwal, Vanshik Soni, Harman Singh Kanwar</dc:creator>
  <cp:lastModifiedBy>Palak Bhatt, Manya Agarwal, Vanshik Soni, Harman Singh Kanwar</cp:lastModifiedBy>
  <cp:revision>1</cp:revision>
  <dcterms:created xsi:type="dcterms:W3CDTF">2026-10-14T09:52:26Z</dcterms:created>
  <dcterms:modified xsi:type="dcterms:W3CDTF">2026-10-14T09:52:26Z</dcterms:modified>
</cp:coreProperties>
</file>